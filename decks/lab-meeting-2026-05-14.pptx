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6" r:id="rId5"/>
    <p:sldId id="267" r:id="rId6"/>
    <p:sldId id="268" r:id="rId7"/>
    <p:sldId id="269" r:id="rId8"/>
    <p:sldId id="259" r:id="rId9"/>
    <p:sldId id="261" r:id="rId10"/>
    <p:sldId id="270" r:id="rId11"/>
    <p:sldId id="271" r:id="rId12"/>
    <p:sldId id="263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53112"/>
  </p:normalViewPr>
  <p:slideViewPr>
    <p:cSldViewPr snapToGrid="0" snapToObjects="1">
      <p:cViewPr varScale="1">
        <p:scale>
          <a:sx n="88" d="100"/>
          <a:sy n="88" d="100"/>
        </p:scale>
        <p:origin x="20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04C31C-37CC-EB43-9AEB-2FF0AB96658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B20F5-08AB-5F4B-8A5F-62039F2B03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7374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B20F5-08AB-5F4B-8A5F-62039F2B03F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937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not COPASI or V-Cell?”→great single-pathway ODE tools, no copy-number accounting across compartments.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Cheat sheet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•COPASI — open-source biochemical pathway simulator; great for single-pathway ODE work.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•V-Cell — UConn cell modelling platform; spatial PDE-capable, domain-specific.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•SBML — Systems Biology Markup Language; XML interchange format.•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BioModels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 xml:space="preserve"> — EBI repository of curated SBML models.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wcEcoli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 xml:space="preserve"> — Covert Lab’s whole-cell E. coli model (Karr 2012 lineage; Macklin / SunScience2020).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•State partitioning — how a multi-process simulator divides shared molecule pools (e.g. ATP) be-tween competing processes each timestep.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•Mass balance — every atom of every species accounted for, with compartment-aware bookkeeping.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B20F5-08AB-5F4B-8A5F-62039F2B03F8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60021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 xml:space="preserve">Every numerical value carries a primary-source citation comment in the code. 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 xml:space="preserve">This is the discipline that catches transcription errors (segues into slide 8). 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5 is the key one. There are ~85 rate constants in this model; each is a small research project.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•Calibrated model — a model whose parameters are constrained by measurements rather than fitted to the validation experiment.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 xml:space="preserve">•Anchor paper — the single paper whose experiment you’ll validate against; defines targets upfront.•IP3R — inositol-1,4,5-trisphosphate receptor; Ca2+release channel on the DTS.•SERCA —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sarco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/endoplasmic-reticulum Ca2+ATPase; pumps Ca2+back into the DTS.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•PMCA — plasma-membrane Ca2+ATPase; pumps Ca2+out of the cell.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•SOCE — store-operated Ca2+entry; STIM1 / Orai1 mechanism that refills depleted stores from extracellular Ca2+.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•DTS — dense tubular system; platelet equivalent of ER, the intracellular Ca2+store.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•Burkhart 2012 — platelet proteomics dataset; absolute copy numbers for ~3,800 platelet proteins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B20F5-08AB-5F4B-8A5F-62039F2B03F8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91986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B20F5-08AB-5F4B-8A5F-62039F2B03F8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17094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Division of labour: AI does the rote PDF extraction; human do the sanity check.</a:t>
            </a:r>
          </a:p>
          <a:p>
            <a:pPr rtl="0"/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•Headline claim: 100s of papers a day is reachable; the bottleneck is verification — and verification is also AI-amenable (see slide 8).</a:t>
            </a:r>
          </a:p>
          <a:p>
            <a:pPr rtl="0"/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 xml:space="preserve">•Authorship of the model – primary source /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wcEcoli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 xml:space="preserve"> / me, in that order</a:t>
            </a:r>
          </a:p>
          <a:p>
            <a:pPr rtl="0"/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•PDF extraction — historically painful for tables and footnotes; modern multimodal LLMs are now reliable on well-formatted tables, less so on figures.</a:t>
            </a:r>
          </a:p>
          <a:p>
            <a:pPr rtl="0"/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•Sanity check — the human step: does the extracted value match the paper’s text? Do the units make sense?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B20F5-08AB-5F4B-8A5F-62039F2B03F8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6774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 xml:space="preserve">“building the code” means: scaffolding new process modules off the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wcEcoli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 xml:space="preserve"> template, wiring rate constants into the existing solver, writing unit tests for invariants.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 well, not perfect, will need refactoring before v. next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“Did the AI write code that worked first try?”→no, the back-and-forth is iterative; the AI is a fast scaffolder and a useful pair-programmer, not an oracle.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B20F5-08AB-5F4B-8A5F-62039F2B03F8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16685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•Agonist — a signal molecule that activates a platelet (thrombin, ADP, TXA2).•GPCR — G-protein-coupled receptor (PAR1/PAR4 for thrombin; P2Y1 and P2Y12 for ADP).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•Gαq — α-subunit of the heterotrimeric G-protein that activates PLCβ. G (P2Y12) is the inhibitory counterpart.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•PLCβ — phospholipase Cβ; cleaves PIP2→IP3+ DAG.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•IP3— inositol-1,4,5-trisphosphate; the second messenger that gates IP3R.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•NCX / NCLX / MCU — Na+/Ca2+exchanger (PM); Na+/Ca2+/Li+ exchanger (mitochondrial);mitochondrial Ca2+uniporter.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•CaM — calmodulin; cytosolic Ca2+sensor / buffer; activates PMCA at high Ca2+.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 xml:space="preserve">•CALR /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BiP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 xml:space="preserve"> / HSP90B1 / CREC — major intra-DTS Ca2+-binding buffers.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•STIM1 / Orai1 — DTS Ca2+sensor + PM channel; the SOCE machinery.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•P2X1 — ATP-gated PM Ca2+channel; ionotropic, not GPCR.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•SCS / OCS — surface-connected (open canalicular) system; the platelet’s invaginated extracellular surface.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•TXA2R — thromboxane A2 receptor; not yet in model.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•PKC — protein kinase C; not yet in model.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B20F5-08AB-5F4B-8A5F-62039F2B03F8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76354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 xml:space="preserve">Resting state targets — cytosolic Ca2+in 90–110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nM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 xml:space="preserve">; DTS Ca2+in literature range (100–400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μM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 xml:space="preserve">);IP3≈50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nM.</a:t>
            </a: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IP3-stimulated transient — the calcium spike following IP3release from the GPCR cascade.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 xml:space="preserve">Gαq-active — fraction of Gαq protein in its GTP-bound, active conformation; an upstream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proxyfor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 xml:space="preserve"> receptor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occupancy.•Unit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 xml:space="preserve"> test — automated invariant check (e.g. mass balance, positivity, sub-state sum)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B20F5-08AB-5F4B-8A5F-62039F2B03F8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14733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B20F5-08AB-5F4B-8A5F-62039F2B03F8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67137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B20F5-08AB-5F4B-8A5F-62039F2B03F8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7710388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914400"/>
            <a:ext cx="1280160" cy="0"/>
          </a:xfrm>
          <a:prstGeom prst="line">
            <a:avLst/>
          </a:prstGeom>
          <a:noFill/>
          <a:ln w="9525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685800" y="100584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research talk</a:t>
            </a:r>
            <a:endParaRPr lang="en-US" sz="10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685800" y="1554480"/>
            <a:ext cx="9905695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dirty="0">
                <a:solidFill>
                  <a:srgbClr val="1A1A1A"/>
                </a:solidFill>
                <a:latin typeface="Source Serif 4 Medium" pitchFamily="34" charset="0"/>
                <a:ea typeface="Source Serif 4 Medium" pitchFamily="34" charset="-122"/>
                <a:cs typeface="Source Serif 4 Medium" pitchFamily="34" charset="-120"/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685800" y="3657600"/>
            <a:ext cx="1082009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rgbClr val="1A1A1A"/>
                </a:solidFill>
                <a:latin typeface="Source Serif 4 Medium" pitchFamily="34" charset="0"/>
                <a:ea typeface="Source Serif 4 Medium" pitchFamily="34" charset="-122"/>
                <a:cs typeface="Source Serif 4 Medium" pitchFamily="34" charset="-120"/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85800" y="2286000"/>
            <a:ext cx="27432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600" dirty="0">
                <a:solidFill>
                  <a:srgbClr val="6B6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marL="0" indent="0" algn="l">
              <a:buNone/>
            </a:pPr>
            <a:endParaRPr lang="en-US" sz="5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85800" y="3429000"/>
            <a:ext cx="1082009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dirty="0">
                <a:solidFill>
                  <a:srgbClr val="1A1A1A"/>
                </a:solidFill>
                <a:latin typeface="Source Serif 4 Medium" pitchFamily="34" charset="0"/>
                <a:ea typeface="Source Serif 4 Medium" pitchFamily="34" charset="-122"/>
                <a:cs typeface="Source Serif 4 Medium" pitchFamily="34" charset="-120"/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4" name="Shape 0"/>
          <p:cNvSpPr/>
          <p:nvPr/>
        </p:nvSpPr>
        <p:spPr>
          <a:xfrm>
            <a:off x="685800" y="4297680"/>
            <a:ext cx="2011680" cy="0"/>
          </a:xfrm>
          <a:prstGeom prst="line">
            <a:avLst/>
          </a:prstGeom>
          <a:noFill/>
          <a:ln w="9525">
            <a:solidFill>
              <a:srgbClr val="D55E0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53796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481328"/>
            <a:ext cx="10820095" cy="0"/>
          </a:xfrm>
          <a:prstGeom prst="line">
            <a:avLst/>
          </a:prstGeom>
          <a:noFill/>
          <a:ln w="635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685800" y="274320"/>
            <a:ext cx="6492057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dirty="0">
                <a:solidFill>
                  <a:srgbClr val="6B6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685800" y="868680"/>
            <a:ext cx="10820095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rgbClr val="1A1A1A"/>
                </a:solidFill>
                <a:latin typeface="Source Serif 4 Medium" pitchFamily="34" charset="0"/>
                <a:ea typeface="Source Serif 4 Medium" pitchFamily="34" charset="-122"/>
                <a:cs typeface="Source Serif 4 Medium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685800" y="1709928"/>
            <a:ext cx="10820095" cy="4507992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rgbClr val="1A1A1A"/>
                </a:solidFill>
                <a:latin typeface="Source Serif 4 Medium" pitchFamily="34" charset="0"/>
                <a:ea typeface="Source Serif 4 Medium" pitchFamily="34" charset="-122"/>
                <a:cs typeface="Source Serif 4 Medium" pitchFamily="34" charset="-120"/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53796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UFTE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481328"/>
            <a:ext cx="10820095" cy="0"/>
          </a:xfrm>
          <a:prstGeom prst="line">
            <a:avLst/>
          </a:prstGeom>
          <a:noFill/>
          <a:ln w="6350">
            <a:solidFill>
              <a:srgbClr val="D55E00"/>
            </a:solidFill>
            <a:prstDash val="solid"/>
          </a:ln>
        </p:spPr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685800" y="274320"/>
            <a:ext cx="6492057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dirty="0">
                <a:solidFill>
                  <a:srgbClr val="6B6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685800" y="868680"/>
            <a:ext cx="10820095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rgbClr val="1A1A1A"/>
                </a:solidFill>
                <a:latin typeface="Source Serif 4 Medium" pitchFamily="34" charset="0"/>
                <a:ea typeface="Source Serif 4 Medium" pitchFamily="34" charset="-122"/>
                <a:cs typeface="Source Serif 4 Medium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685800" y="1709928"/>
            <a:ext cx="8115071" cy="4507992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700" dirty="0">
                <a:solidFill>
                  <a:srgbClr val="1A1A1A"/>
                </a:solidFill>
                <a:latin typeface="Source Serif 4 Medium" pitchFamily="34" charset="0"/>
                <a:ea typeface="Source Serif 4 Medium" pitchFamily="34" charset="-122"/>
                <a:cs typeface="Source Serif 4 Medium" pitchFamily="34" charset="-120"/>
              </a:defRPr>
            </a:lvl1pPr>
          </a:lstStyle>
          <a:p>
            <a:pPr marL="0" indent="0" algn="l">
              <a:buNone/>
            </a:pPr>
            <a:endParaRPr lang="en-US" sz="1700" dirty="0"/>
          </a:p>
        </p:txBody>
      </p:sp>
      <p:sp>
        <p:nvSpPr>
          <p:cNvPr id="6" name="Text 1"/>
          <p:cNvSpPr>
            <a:spLocks noGrp="1"/>
          </p:cNvSpPr>
          <p:nvPr>
            <p:ph type="body" idx="104" hasCustomPrompt="1"/>
          </p:nvPr>
        </p:nvSpPr>
        <p:spPr>
          <a:xfrm>
            <a:off x="9341876" y="1709928"/>
            <a:ext cx="2164019" cy="4507992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i="1" dirty="0">
                <a:solidFill>
                  <a:srgbClr val="6B6B6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53796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481328"/>
            <a:ext cx="10820095" cy="0"/>
          </a:xfrm>
          <a:prstGeom prst="line">
            <a:avLst/>
          </a:prstGeom>
          <a:noFill/>
          <a:ln w="635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685800" y="274320"/>
            <a:ext cx="6492057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dirty="0">
                <a:solidFill>
                  <a:srgbClr val="6B6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685800" y="868680"/>
            <a:ext cx="10820095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rgbClr val="1A1A1A"/>
                </a:solidFill>
                <a:latin typeface="Source Serif 4 Medium" pitchFamily="34" charset="0"/>
                <a:ea typeface="Source Serif 4 Medium" pitchFamily="34" charset="-122"/>
                <a:cs typeface="Source Serif 4 Medium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868680" y="1984248"/>
            <a:ext cx="36576" cy="2743200"/>
          </a:xfrm>
          <a:prstGeom prst="rect">
            <a:avLst/>
          </a:prstGeom>
          <a:solidFill>
            <a:srgbClr val="D55E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2"/>
          <p:cNvSpPr>
            <a:spLocks noGrp="1"/>
          </p:cNvSpPr>
          <p:nvPr>
            <p:ph type="body" idx="104" hasCustomPrompt="1"/>
          </p:nvPr>
        </p:nvSpPr>
        <p:spPr>
          <a:xfrm>
            <a:off x="1097280" y="1984248"/>
            <a:ext cx="10225735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dirty="0">
                <a:solidFill>
                  <a:srgbClr val="D55E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7" name="Text 2"/>
          <p:cNvSpPr>
            <a:spLocks noGrp="1"/>
          </p:cNvSpPr>
          <p:nvPr>
            <p:ph type="body" idx="105" hasCustomPrompt="1"/>
          </p:nvPr>
        </p:nvSpPr>
        <p:spPr>
          <a:xfrm>
            <a:off x="1097280" y="2368296"/>
            <a:ext cx="10225735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i="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53796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QUATION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85800" y="274320"/>
            <a:ext cx="6492057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dirty="0">
                <a:solidFill>
                  <a:srgbClr val="6B6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85800" y="2194560"/>
            <a:ext cx="10820095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400" i="1" dirty="0">
                <a:solidFill>
                  <a:srgbClr val="1A1A1A"/>
                </a:solidFill>
                <a:latin typeface="STIX Two Math" pitchFamily="34" charset="0"/>
                <a:ea typeface="STIX Two Math" pitchFamily="34" charset="-122"/>
                <a:cs typeface="STIX Two Math" pitchFamily="34" charset="-120"/>
              </a:defRPr>
            </a:lvl1pPr>
          </a:lstStyle>
          <a:p>
            <a:pPr marL="0" indent="0" algn="ctr">
              <a:buNone/>
            </a:pPr>
            <a:endParaRPr lang="en-US" sz="44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2057400" y="3749040"/>
            <a:ext cx="807689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300" i="1" dirty="0">
                <a:solidFill>
                  <a:srgbClr val="6B6B6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53796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COL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481328"/>
            <a:ext cx="10820095" cy="0"/>
          </a:xfrm>
          <a:prstGeom prst="line">
            <a:avLst/>
          </a:prstGeom>
          <a:noFill/>
          <a:ln w="635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685800" y="274320"/>
            <a:ext cx="6492057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dirty="0">
                <a:solidFill>
                  <a:srgbClr val="6B6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685800" y="868680"/>
            <a:ext cx="10820095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rgbClr val="1A1A1A"/>
                </a:solidFill>
                <a:latin typeface="Source Serif 4 Medium" pitchFamily="34" charset="0"/>
                <a:ea typeface="Source Serif 4 Medium" pitchFamily="34" charset="-122"/>
                <a:cs typeface="Source Serif 4 Medium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685800" y="1709928"/>
            <a:ext cx="5181448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kern="0" spc="200" dirty="0">
                <a:solidFill>
                  <a:srgbClr val="D55E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6" name="Text 1"/>
          <p:cNvSpPr>
            <a:spLocks noGrp="1"/>
          </p:cNvSpPr>
          <p:nvPr>
            <p:ph type="body" idx="104" hasCustomPrompt="1"/>
          </p:nvPr>
        </p:nvSpPr>
        <p:spPr>
          <a:xfrm>
            <a:off x="685800" y="2057400"/>
            <a:ext cx="5181448" cy="4160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rgbClr val="1A1A1A"/>
                </a:solidFill>
                <a:latin typeface="Source Serif 4 Medium" pitchFamily="34" charset="0"/>
                <a:ea typeface="Source Serif 4 Medium" pitchFamily="34" charset="-122"/>
                <a:cs typeface="Source Serif 4 Medium" pitchFamily="34" charset="-120"/>
              </a:defRPr>
            </a:lvl1pPr>
          </a:lstStyle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7" name="Text 1"/>
          <p:cNvSpPr>
            <a:spLocks noGrp="1"/>
          </p:cNvSpPr>
          <p:nvPr>
            <p:ph type="body" idx="105" hasCustomPrompt="1"/>
          </p:nvPr>
        </p:nvSpPr>
        <p:spPr>
          <a:xfrm>
            <a:off x="6324448" y="1709928"/>
            <a:ext cx="5181448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kern="0" spc="200" dirty="0">
                <a:solidFill>
                  <a:srgbClr val="009E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8" name="Text 1"/>
          <p:cNvSpPr>
            <a:spLocks noGrp="1"/>
          </p:cNvSpPr>
          <p:nvPr>
            <p:ph type="body" idx="106" hasCustomPrompt="1"/>
          </p:nvPr>
        </p:nvSpPr>
        <p:spPr>
          <a:xfrm>
            <a:off x="6324448" y="2057400"/>
            <a:ext cx="5181448" cy="4160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rgbClr val="1A1A1A"/>
                </a:solidFill>
                <a:latin typeface="Source Serif 4 Medium" pitchFamily="34" charset="0"/>
                <a:ea typeface="Source Serif 4 Medium" pitchFamily="34" charset="-122"/>
                <a:cs typeface="Source Serif 4 Medium" pitchFamily="34" charset="-120"/>
              </a:defRPr>
            </a:lvl1pPr>
          </a:lstStyle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53796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56032"/>
            <a:ext cx="45720" cy="45720"/>
          </a:xfrm>
          <a:prstGeom prst="rect">
            <a:avLst/>
          </a:prstGeom>
          <a:solidFill>
            <a:srgbClr val="D55E00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53796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7.png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lang="en-GB" noProof="1"/>
              <a:t>The feasibility of a whole-cell model of the human platelet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rPr lang="en-GB" noProof="1"/>
              <a:t>Steve Haigh  ·  Dash lab meeting  ·  21 May 2026</a:t>
            </a:r>
          </a:p>
        </p:txBody>
      </p:sp>
      <p:pic>
        <p:nvPicPr>
          <p:cNvPr id="20" name="University of Reading Arm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3707" y="457200"/>
            <a:ext cx="1131093" cy="1372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rPr lang="en-GB" noProof="1"/>
              <a:t>Framework choice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lang="en-GB" noProof="1"/>
              <a:t>Quick recap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rPr lang="en-GB" noProof="1"/>
              <a:t>What I evaluated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rPr lang="en-GB" noProof="1"/>
              <a:t>Aiming to build a computer model of the platelet.</a:t>
            </a:r>
          </a:p>
          <a:p>
            <a:r>
              <a:rPr lang="en-GB" noProof="1"/>
              <a:t>Has been done before in prokaryotes and yeast but not in other eukaryotic cells.</a:t>
            </a:r>
          </a:p>
          <a:p>
            <a:r>
              <a:rPr lang="en-GB" noProof="1"/>
              <a:t>Lots of modelling done in platelets but not a whole-cell attempt.</a:t>
            </a:r>
          </a:p>
          <a:p>
            <a:r>
              <a:rPr lang="en-GB" noProof="1"/>
              <a:t>Lots of options e.g., COPASI, V-Cell and others.</a:t>
            </a:r>
          </a:p>
          <a:p>
            <a:r>
              <a:rPr lang="en-GB" noProof="1"/>
              <a:t>Landed on wcEcoli project from Covert lab – seemed capable of scaling to whole cell, plus code quality was excellent, something I could work with and expand.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rPr lang="en-GB" noProof="1"/>
              <a:t>What I did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06"/>
          </p:nvPr>
        </p:nvSpPr>
        <p:spPr/>
        <p:txBody>
          <a:bodyPr/>
          <a:lstStyle/>
          <a:p>
            <a:r>
              <a:rPr lang="en-GB" noProof="1"/>
              <a:t>Forked wcEcoli (i.e., took my own working copy).</a:t>
            </a:r>
          </a:p>
          <a:p>
            <a:r>
              <a:rPr lang="en-GB" noProof="1"/>
              <a:t xml:space="preserve">Pruned all </a:t>
            </a:r>
            <a:r>
              <a:rPr lang="en-GB" i="1" u="sng" noProof="1"/>
              <a:t>E.coli</a:t>
            </a:r>
            <a:r>
              <a:rPr lang="en-GB" noProof="1"/>
              <a:t xml:space="preserve"> biology.</a:t>
            </a:r>
          </a:p>
          <a:p>
            <a:r>
              <a:rPr lang="en-GB" noProof="1"/>
              <a:t>Used AI to build some tests in code to verify I didn’t remove too much.</a:t>
            </a:r>
          </a:p>
          <a:p>
            <a:r>
              <a:rPr lang="en-GB" noProof="1"/>
              <a:t>Rebuilt cell contents and processes from the platelet literature.</a:t>
            </a:r>
          </a:p>
          <a:p>
            <a:r>
              <a:rPr lang="en-GB" noProof="1"/>
              <a:t xml:space="preserve">Kept the simulation engine, state partitioning, listener / analysis framework </a:t>
            </a:r>
          </a:p>
          <a:p>
            <a:r>
              <a:rPr lang="en-GB" noProof="1"/>
              <a:t>~5,000 lines of working code I didn't have to write.</a:t>
            </a:r>
          </a:p>
          <a:p>
            <a:r>
              <a:rPr lang="en-GB" noProof="1"/>
              <a:t>Emailed Prof. Covert – “</a:t>
            </a:r>
            <a:r>
              <a:rPr lang="en-GB" i="1" noProof="1"/>
              <a:t>sounds fun, good luck</a:t>
            </a:r>
            <a:r>
              <a:rPr lang="en-GB" noProof="1"/>
              <a:t>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rPr lang="en-GB" noProof="1"/>
              <a:t>Methodology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lang="en-GB" noProof="1"/>
              <a:t>Method to build a calibrated model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rPr lang="en-GB" noProof="1"/>
              <a:t>For each mechanism, a five-step process:</a:t>
            </a:r>
          </a:p>
          <a:p>
            <a:r>
              <a:rPr lang="en-GB" noProof="1"/>
              <a:t>1. Anchor paper. E.g., Dolan &amp; Diamond 2014 supplied the validation experiment (Fig. 4 Ca²⁺ transients ± extracellular Ca²⁺) and resting-state targets (100 nM cyt, 250 µM DTS).</a:t>
            </a:r>
          </a:p>
          <a:p>
            <a:r>
              <a:rPr lang="en-GB" noProof="1"/>
              <a:t>2. Literature review for kinetics. Primary sources: deYoung-Keizer 1992 for IP3R, Caride 2007 for PMCA, Hoover &amp; Lewis 2011 for SOCE, Mazet 2020 for the PI cycle...</a:t>
            </a:r>
          </a:p>
          <a:p>
            <a:r>
              <a:rPr lang="en-GB" noProof="1"/>
              <a:t>3. Species enumeration. Every Ca²⁺-binding or -gating protein state, with a compartment tag (DTS, Cyt etc). ~50 species for the calcium pathway.</a:t>
            </a:r>
          </a:p>
          <a:p>
            <a:r>
              <a:rPr lang="en-GB" noProof="1"/>
              <a:t>4. Copy numbers from Burkhart 2012 platelet proteomics.</a:t>
            </a:r>
          </a:p>
          <a:p>
            <a:r>
              <a:rPr lang="en-GB" noProof="1"/>
              <a:t>5. Rate constants. Primary-source values, units normalised, every value carrying a citation comment in code.</a:t>
            </a:r>
          </a:p>
          <a:p>
            <a:r>
              <a:rPr lang="en-GB" noProof="1"/>
              <a:t>Then: does the resting state hold? Do the timescales line up? Do the unit tests still pass?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D7527F9-3697-9CAC-BB83-6CC54C4D0E8F}"/>
              </a:ext>
            </a:extLst>
          </p:cNvPr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rPr lang="en-GB" noProof="1"/>
              <a:t>Methodology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E6E797-D012-AE94-68F7-4251070CA804}"/>
              </a:ext>
            </a:extLst>
          </p:cNvPr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lang="en-GB" noProof="1"/>
              <a:t>Build code from source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8FB98E-9901-4072-2AB6-D3E3A6578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604" y="2596490"/>
            <a:ext cx="10276926" cy="35752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31ABED-7CDC-BB6F-6E03-29501A27F112}"/>
              </a:ext>
            </a:extLst>
          </p:cNvPr>
          <p:cNvSpPr txBox="1"/>
          <p:nvPr/>
        </p:nvSpPr>
        <p:spPr>
          <a:xfrm>
            <a:off x="726604" y="1718268"/>
            <a:ext cx="6215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1">
                <a:latin typeface="Source Serif 4 Medium" panose="02040603050405020204" pitchFamily="18" charset="0"/>
                <a:ea typeface="Source Serif 4 Medium" panose="02040603050405020204" pitchFamily="18" charset="0"/>
              </a:rPr>
              <a:t>Start with the published data (usually PDF, sometimes CSV)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4EAAC2-D59E-6666-4645-20320C97A066}"/>
              </a:ext>
            </a:extLst>
          </p:cNvPr>
          <p:cNvSpPr txBox="1"/>
          <p:nvPr/>
        </p:nvSpPr>
        <p:spPr>
          <a:xfrm>
            <a:off x="685800" y="2268362"/>
            <a:ext cx="17235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noProof="1">
                <a:solidFill>
                  <a:schemeClr val="accent2"/>
                </a:solidFill>
                <a:latin typeface="IBM Plex Mono" panose="020B0509050203000203" pitchFamily="49" charset="77"/>
              </a:rPr>
              <a:t>Just a small excerpt</a:t>
            </a:r>
          </a:p>
        </p:txBody>
      </p:sp>
    </p:spTree>
    <p:extLst>
      <p:ext uri="{BB962C8B-B14F-4D97-AF65-F5344CB8AC3E}">
        <p14:creationId xmlns:p14="http://schemas.microsoft.com/office/powerpoint/2010/main" val="2832020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1ADDE-4B10-4898-EB0A-8E4F44B38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FE2F67-0EEF-229E-1DC1-0B1A70B06F5E}"/>
              </a:ext>
            </a:extLst>
          </p:cNvPr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rPr lang="en-GB" noProof="1"/>
              <a:t>Methodology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432A35-93E3-3EF1-2C72-2C558D84CF17}"/>
              </a:ext>
            </a:extLst>
          </p:cNvPr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lang="en-GB" noProof="1"/>
              <a:t>Build code from source 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F52E79-EA4C-7CFC-3DC1-CAF43B39624D}"/>
              </a:ext>
            </a:extLst>
          </p:cNvPr>
          <p:cNvSpPr txBox="1"/>
          <p:nvPr/>
        </p:nvSpPr>
        <p:spPr>
          <a:xfrm>
            <a:off x="685800" y="1737583"/>
            <a:ext cx="99245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1">
                <a:latin typeface="Source Serif 4 Medium" panose="02040603050405020204" pitchFamily="18" charset="0"/>
                <a:ea typeface="Source Serif 4 Medium" panose="02040603050405020204" pitchFamily="18" charset="0"/>
              </a:rPr>
              <a:t>Ask AI to extract – get it to tell you what it’s doing to sanity check (but it is VERY good at this)</a:t>
            </a:r>
          </a:p>
          <a:p>
            <a:endParaRPr lang="en-GB" noProof="1">
              <a:latin typeface="Source Serif 4 Medium" panose="02040603050405020204" pitchFamily="18" charset="0"/>
              <a:ea typeface="Source Serif 4 Medium" panose="02040603050405020204" pitchFamily="18" charset="0"/>
            </a:endParaRPr>
          </a:p>
          <a:p>
            <a:r>
              <a:rPr lang="en-GB" noProof="1">
                <a:latin typeface="Source Serif 4 Medium" panose="02040603050405020204" pitchFamily="18" charset="0"/>
                <a:ea typeface="Source Serif 4 Medium" panose="02040603050405020204" pitchFamily="18" charset="0"/>
              </a:rPr>
              <a:t>E.g. I asked “</a:t>
            </a:r>
            <a:r>
              <a:rPr lang="en-GB" i="1" noProof="1">
                <a:latin typeface="Source Serif 4 Medium" panose="02040603050405020204" pitchFamily="18" charset="0"/>
                <a:ea typeface="Source Serif 4 Medium" panose="02040603050405020204" pitchFamily="18" charset="0"/>
              </a:rPr>
              <a:t>Please read Dolan and Diamond 2014 and tell me what the first 5 lines of table 1 show</a:t>
            </a:r>
            <a:r>
              <a:rPr lang="en-GB" noProof="1">
                <a:latin typeface="Source Serif 4 Medium" panose="02040603050405020204" pitchFamily="18" charset="0"/>
                <a:ea typeface="Source Serif 4 Medium" panose="02040603050405020204" pitchFamily="18" charset="0"/>
              </a:rPr>
              <a:t>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EE666F-FC5D-3722-EB67-590CF79B45CF}"/>
              </a:ext>
            </a:extLst>
          </p:cNvPr>
          <p:cNvSpPr txBox="1"/>
          <p:nvPr/>
        </p:nvSpPr>
        <p:spPr>
          <a:xfrm>
            <a:off x="894303" y="2381459"/>
            <a:ext cx="1847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sz="1200" noProof="1">
              <a:latin typeface="Andale Mono" panose="020B05090000000000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DB1DBC-D482-FE0F-4AD2-3CD032F3F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39107"/>
            <a:ext cx="10886937" cy="24246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76CFEE4-7051-3E4B-935B-7D42F797C1E2}"/>
              </a:ext>
            </a:extLst>
          </p:cNvPr>
          <p:cNvSpPr txBox="1"/>
          <p:nvPr/>
        </p:nvSpPr>
        <p:spPr>
          <a:xfrm>
            <a:off x="685800" y="5935680"/>
            <a:ext cx="108869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noProof="1">
                <a:latin typeface="Source Serif 4 Medium" panose="02040603050405020204" pitchFamily="18" charset="0"/>
                <a:ea typeface="Source Serif 4 Medium" panose="02040603050405020204" pitchFamily="18" charset="0"/>
              </a:rPr>
              <a:t>Simply not feasible to do this by hand at large scale, AI could process 100s of papers in a day. The only challenge is verification, but this is also amenable to AI assistance.</a:t>
            </a:r>
          </a:p>
        </p:txBody>
      </p:sp>
    </p:spTree>
    <p:extLst>
      <p:ext uri="{BB962C8B-B14F-4D97-AF65-F5344CB8AC3E}">
        <p14:creationId xmlns:p14="http://schemas.microsoft.com/office/powerpoint/2010/main" val="1967655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61329-4A01-12DD-7F48-92F574FBC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50AE830-5776-FCD1-E3E1-433CF5DBBD08}"/>
              </a:ext>
            </a:extLst>
          </p:cNvPr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rPr lang="en-GB" noProof="1"/>
              <a:t>Methodology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A2492B2-9083-A46D-9E57-C6338F09550F}"/>
              </a:ext>
            </a:extLst>
          </p:cNvPr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lang="en-GB" noProof="1"/>
              <a:t>Build code from source 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83BF61-7F3E-88CF-EBDF-8AC1F28F13A3}"/>
              </a:ext>
            </a:extLst>
          </p:cNvPr>
          <p:cNvSpPr txBox="1"/>
          <p:nvPr/>
        </p:nvSpPr>
        <p:spPr>
          <a:xfrm>
            <a:off x="685800" y="1655746"/>
            <a:ext cx="7053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1">
                <a:latin typeface="Source Serif 4 Medium" panose="02040603050405020204" pitchFamily="18" charset="0"/>
                <a:ea typeface="Source Serif 4 Medium" panose="02040603050405020204" pitchFamily="18" charset="0"/>
              </a:rPr>
              <a:t>Then get AI to build the code, using the wcEcoli code as a template.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E8B556-CFB5-C9F4-BAF3-1883D092D9C6}"/>
              </a:ext>
            </a:extLst>
          </p:cNvPr>
          <p:cNvSpPr txBox="1"/>
          <p:nvPr/>
        </p:nvSpPr>
        <p:spPr>
          <a:xfrm>
            <a:off x="763675" y="6034818"/>
            <a:ext cx="98812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1">
                <a:latin typeface="Source Serif 4 Medium" panose="02040603050405020204" pitchFamily="18" charset="0"/>
                <a:ea typeface="Source Serif 4 Medium" panose="02040603050405020204" pitchFamily="18" charset="0"/>
              </a:rPr>
              <a:t xml:space="preserve">The code works well, the architecture is not perfect, needs some work to make it more usable </a:t>
            </a:r>
          </a:p>
          <a:p>
            <a:r>
              <a:rPr lang="en-GB" noProof="1">
                <a:latin typeface="Source Serif 4 Medium" panose="02040603050405020204" pitchFamily="18" charset="0"/>
                <a:ea typeface="Source Serif 4 Medium" panose="02040603050405020204" pitchFamily="18" charset="0"/>
              </a:rPr>
              <a:t>for future expansion but it’s an excellent start.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2CB9C0-94B8-4881-E711-E10E6E654A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329" y="2073668"/>
            <a:ext cx="8045607" cy="3968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218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744F7D6-7889-7F6C-790B-47CB079EE710}"/>
              </a:ext>
            </a:extLst>
          </p:cNvPr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rPr lang="en-GB" noProof="1"/>
              <a:t>Result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1B7BDA7-B35D-448D-B64F-7AA1574582C4}"/>
              </a:ext>
            </a:extLst>
          </p:cNvPr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lang="en-GB" noProof="1"/>
              <a:t>What did I build? (so far)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1E8452-E39E-037A-35DD-F2364B1A7D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4657" y="1600292"/>
            <a:ext cx="7772400" cy="4818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711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rPr lang="en-GB" noProof="1"/>
              <a:t>An aside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lang="en-GB" noProof="1"/>
              <a:t>Spotting Errors in the source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rPr lang="en-GB" noProof="1"/>
              <a:t>The Purvis 2008 k₃ story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5"/>
          </p:nvPr>
        </p:nvSpPr>
        <p:spPr>
          <a:xfrm>
            <a:off x="1097280" y="2368295"/>
            <a:ext cx="10225735" cy="2967379"/>
          </a:xfrm>
        </p:spPr>
        <p:txBody>
          <a:bodyPr/>
          <a:lstStyle/>
          <a:p>
            <a:r>
              <a:rPr lang="en-GB" i="0" noProof="1"/>
              <a:t>Asked AI to check values it had extracted.</a:t>
            </a:r>
          </a:p>
          <a:p>
            <a:r>
              <a:rPr lang="en-GB" i="0" noProof="1"/>
              <a:t xml:space="preserve"> </a:t>
            </a:r>
          </a:p>
          <a:p>
            <a:r>
              <a:rPr lang="en-GB" i="0" noProof="1"/>
              <a:t>AI spotted that a value quoted in Purvis &amp; Diamond 2008 (well known platelet modelling paper) was wrong – units were wrong and value was 100X too large.</a:t>
            </a:r>
          </a:p>
          <a:p>
            <a:endParaRPr lang="en-GB" i="0" noProof="1"/>
          </a:p>
          <a:p>
            <a:r>
              <a:rPr lang="en-GB" i="0" noProof="1"/>
              <a:t>AI found original study via references and verified for myself, AI was correct, there was a typo.</a:t>
            </a:r>
          </a:p>
          <a:p>
            <a:endParaRPr lang="en-GB" i="0" noProof="1"/>
          </a:p>
          <a:p>
            <a:r>
              <a:rPr lang="en-GB" i="0" noProof="1"/>
              <a:t xml:space="preserve">Very strong use-case for AI – tracking values and assertions across papers. It is also very useful for helping to review data – I got the AI to print the values it found, with reference to the primary source and the code so I could easily review.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rPr lang="en-GB" noProof="1"/>
              <a:t>Results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lang="en-GB" noProof="1"/>
              <a:t>Validation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rPr lang="en-GB" noProof="1"/>
              <a:t>Criteria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rPr lang="en-GB" sz="1600" noProof="1"/>
              <a:t>Compared output to existing models,</a:t>
            </a:r>
          </a:p>
          <a:p>
            <a:r>
              <a:rPr lang="en-GB" sz="1600" noProof="1"/>
              <a:t>success criteria: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noProof="1"/>
              <a:t>Resting cytosolic Ca²⁺ within 100 ± 10 nM band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noProof="1"/>
              <a:t>Resting DTS Ca²⁺ in the literature range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noProof="1"/>
              <a:t>IP₃-stimulated transient peak height in band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noProof="1"/>
              <a:t>Transient duration matches shape of previous model(s)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rPr lang="en-GB" noProof="1"/>
              <a:t>Model state at 14 May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06"/>
          </p:nvPr>
        </p:nvSpPr>
        <p:spPr/>
        <p:txBody>
          <a:bodyPr/>
          <a:lstStyle/>
          <a:p>
            <a:r>
              <a:rPr lang="en-GB" sz="1600" noProof="1"/>
              <a:t>Resting cyt Ca²⁺: 104 nM  ✓</a:t>
            </a:r>
          </a:p>
          <a:p>
            <a:r>
              <a:rPr lang="en-GB" sz="1600" noProof="1"/>
              <a:t>Resting DTS Ca²⁺: 235 µM  ✓</a:t>
            </a:r>
          </a:p>
          <a:p>
            <a:r>
              <a:rPr lang="en-GB" sz="1600" noProof="1"/>
              <a:t>Resting IP₃: 50 nM  ✓</a:t>
            </a:r>
          </a:p>
          <a:p>
            <a:r>
              <a:rPr lang="en-GB" sz="1600" noProof="1"/>
              <a:t>Resting Gαq-active: 100 of 5000  ✓</a:t>
            </a:r>
          </a:p>
          <a:p>
            <a:r>
              <a:rPr lang="en-GB" sz="1600" noProof="1"/>
              <a:t>21 / 21 unit tests pass</a:t>
            </a:r>
          </a:p>
          <a:p>
            <a:r>
              <a:rPr lang="en-GB" sz="1600" noProof="1"/>
              <a:t>Driven by physiological agonists — 1 nM thrombin, 10 µM ADP. No hand-fitted IP₃ forcing.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B5C1E5-C847-F26E-E55E-AF142AC24AE9}"/>
              </a:ext>
            </a:extLst>
          </p:cNvPr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rPr lang="en-GB" noProof="1"/>
              <a:t>Results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DA0619-8A5D-188A-6C58-E5A3DCF4ADC9}"/>
              </a:ext>
            </a:extLst>
          </p:cNvPr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lang="en-GB" noProof="1"/>
              <a:t>Model stimulated with ADP / Thrombin  - Cytosolic Ca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895AB8-D81C-663B-16E2-B85B5A00D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6080" y="1657480"/>
            <a:ext cx="9319839" cy="492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840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B61B4-371E-ADA6-B234-7582A7831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C4E8B4-55C3-4B0F-B19F-5C0FB53100A3}"/>
              </a:ext>
            </a:extLst>
          </p:cNvPr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rPr lang="en-GB" noProof="1"/>
              <a:t>Results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1E6521-011D-C787-42FA-1281C16AB2CB}"/>
              </a:ext>
            </a:extLst>
          </p:cNvPr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lang="en-GB" noProof="1"/>
              <a:t>Model stimulated with ADP / Thrombin  - DTS Ca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73E061-E171-12FD-382B-4BE94FDD3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16" y="1783080"/>
            <a:ext cx="7772400" cy="450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2457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rPr lang="en-GB" noProof="1"/>
              <a:t>Outlook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lang="en-GB" noProof="1"/>
              <a:t>Where it goes from here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3"/>
          </p:nvPr>
        </p:nvSpPr>
        <p:spPr>
          <a:xfrm>
            <a:off x="725995" y="1481328"/>
            <a:ext cx="10820095" cy="4507992"/>
          </a:xfrm>
        </p:spPr>
        <p:txBody>
          <a:bodyPr/>
          <a:lstStyle/>
          <a:p>
            <a:r>
              <a:rPr lang="en-GB" noProof="1"/>
              <a:t>Near-term biology: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1"/>
              <a:t>Granule release — the model currently stops at the Ca²⁺ peak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1"/>
              <a:t>Implement P2Y₁₂, TXA</a:t>
            </a:r>
            <a:r>
              <a:rPr lang="en-GB" baseline="-25000" noProof="1"/>
              <a:t>2</a:t>
            </a:r>
            <a:r>
              <a:rPr lang="en-GB" noProof="1"/>
              <a:t>R receptors and more, depending on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1"/>
              <a:t>Run experiments e.g. when P2Y₁₂ / Gᵢ are wired up add clopidogrel as an in-silico drug experiment.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noProof="1"/>
          </a:p>
          <a:p>
            <a:r>
              <a:rPr lang="en-GB" noProof="1"/>
              <a:t>Wider impact: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1"/>
              <a:t>Platelet – CTC interactions. Calibrated platelet model could in principle be coupled to a tumour-cell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1"/>
              <a:t>Methodology generalises to other single-cell calibration problems.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GB" sz="1800" noProof="1">
                <a:latin typeface="Source Serif 4 Medium" panose="02040603050405020204" pitchFamily="18" charset="0"/>
                <a:ea typeface="Source Serif 4 Medium" panose="02040603050405020204" pitchFamily="18" charset="0"/>
              </a:rPr>
              <a:t>If we have well quanitified pathways no reason not to try and model them in a cancer cell.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1"/>
              <a:t>Multiple cell-cell interactions – thrombus formation?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noProof="1"/>
          </a:p>
          <a:p>
            <a:r>
              <a:rPr lang="en-GB" noProof="1"/>
              <a:t>Blue sky goal: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1"/>
              <a:t xml:space="preserve">I’d like to get to a point where a biologist with limited coding experience could build a model with AI help. </a:t>
            </a:r>
            <a:r>
              <a:rPr lang="en-GB" i="1" noProof="1"/>
              <a:t>Very long shot – a system where a user drops primary data and text instructions into an app and the model builds itself.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4336</TotalTime>
  <Words>1762</Words>
  <Application>Microsoft Macintosh PowerPoint</Application>
  <PresentationFormat>Widescreen</PresentationFormat>
  <Paragraphs>141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Andale Mono</vt:lpstr>
      <vt:lpstr>Aptos</vt:lpstr>
      <vt:lpstr>Arial</vt:lpstr>
      <vt:lpstr>IBM Plex Mono</vt:lpstr>
      <vt:lpstr>Source Serif 4</vt:lpstr>
      <vt:lpstr>Source Serif 4 Medium</vt:lpstr>
      <vt:lpstr>STIX Two Math</vt:lpstr>
      <vt:lpstr>Office Theme</vt:lpstr>
      <vt:lpstr>The feasibility of a whole-cell model of the human platelet</vt:lpstr>
      <vt:lpstr>Quick recap</vt:lpstr>
      <vt:lpstr>Method to build a calibrated model</vt:lpstr>
      <vt:lpstr>Build code from source data</vt:lpstr>
      <vt:lpstr>Build code from source data</vt:lpstr>
      <vt:lpstr>Build code from source data</vt:lpstr>
      <vt:lpstr>What did I build? (so far)</vt:lpstr>
      <vt:lpstr>Spotting Errors in the source</vt:lpstr>
      <vt:lpstr>Validation</vt:lpstr>
      <vt:lpstr>Model stimulated with ADP / Thrombin  - Cytosolic Ca</vt:lpstr>
      <vt:lpstr>Model stimulated with ADP / Thrombin  - DTS Ca</vt:lpstr>
      <vt:lpstr>Where it goes from here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Academic theme — paper-serif, Okabe-Ito vermillion</dc:title>
  <dc:subject>PptxGenJS Presentation</dc:subject>
  <dc:creator>Steve Haigh</dc:creator>
  <cp:lastModifiedBy>Steve Haigh</cp:lastModifiedBy>
  <cp:revision>6</cp:revision>
  <dcterms:created xsi:type="dcterms:W3CDTF">2026-05-11T14:50:23Z</dcterms:created>
  <dcterms:modified xsi:type="dcterms:W3CDTF">2026-05-22T10:16:09Z</dcterms:modified>
</cp:coreProperties>
</file>