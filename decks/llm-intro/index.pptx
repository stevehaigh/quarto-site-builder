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rxiv.org/abs/1706.03762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youtube.com/@3blue1brown" TargetMode="External" /><Relationship Id="rId3" Type="http://schemas.openxmlformats.org/officeDocument/2006/relationships/hyperlink" Target="https://youtube.com/@AndrejKarpathy" TargetMode="External" /><Relationship Id="rId4" Type="http://schemas.openxmlformats.org/officeDocument/2006/relationships/hyperlink" Target="https://jalammar.github.io/illustrated-transformer" TargetMode="External" /><Relationship Id="rId5" Type="http://schemas.openxmlformats.org/officeDocument/2006/relationships/hyperlink" Target="https://writings.stephenwolfram.com/2023/02/" TargetMode="External" /><Relationship Id="rId6" Type="http://schemas.openxmlformats.org/officeDocument/2006/relationships/hyperlink" Target="https://manning.com" TargetMode="External" /><Relationship Id="rId7" Type="http://schemas.openxmlformats.org/officeDocument/2006/relationships/hyperlink" Target="https://anthropic.com/research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 LLMs work?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shallow-dive into LLMs</a:t>
            </a:r>
            <a:br/>
            <a:br/>
            <a:r>
              <a:rPr/>
              <a:t>Steve Haigh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Apr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Ubiquity.</a:t>
            </a:r>
          </a:p>
          <a:p>
            <a:pPr lvl="0"/>
            <a:r>
              <a:rPr/>
              <a:t>LLMs are showing up in every step of research — coding, search, writing, annotation, figures.</a:t>
            </a:r>
          </a:p>
          <a:p>
            <a:pPr lvl="0" indent="0" marL="0">
              <a:buNone/>
            </a:pPr>
            <a:r>
              <a:rPr b="1"/>
              <a:t>Productivity.</a:t>
            </a:r>
          </a:p>
          <a:p>
            <a:pPr lvl="0"/>
            <a:r>
              <a:rPr/>
              <a:t>They genuinely accelerate and augment in many areas.</a:t>
            </a:r>
          </a:p>
          <a:p>
            <a:pPr lvl="0" indent="0" marL="0">
              <a:buNone/>
            </a:pPr>
            <a:r>
              <a:rPr b="1"/>
              <a:t>Failure modes.</a:t>
            </a:r>
          </a:p>
          <a:p>
            <a:pPr lvl="0"/>
            <a:r>
              <a:rPr/>
              <a:t>Easily produce plausible nonsense; create dependence.</a:t>
            </a:r>
          </a:p>
          <a:p>
            <a:pPr lvl="0" indent="0" marL="0">
              <a:buNone/>
            </a:pPr>
            <a:r>
              <a:rPr b="1"/>
              <a:t>Literacy.</a:t>
            </a:r>
          </a:p>
          <a:p>
            <a:pPr lvl="0"/>
            <a:r>
              <a:rPr/>
              <a:t>Understanding AI is like understanding a lab protocol — follow without understanding and you will make mistakes.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an LLM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giant neural network.</a:t>
            </a:r>
          </a:p>
          <a:p>
            <a:pPr lvl="0"/>
            <a:r>
              <a:rPr/>
              <a:t>Connections learned through billions of examples; trained to predict the next token.</a:t>
            </a:r>
          </a:p>
          <a:p>
            <a:pPr lvl="0" indent="0" marL="0">
              <a:buNone/>
            </a:pPr>
            <a:r>
              <a:rPr b="1"/>
              <a:t>Everything is a vector.</a:t>
            </a:r>
          </a:p>
          <a:p>
            <a:pPr lvl="0"/>
            <a:r>
              <a:rPr/>
              <a:t>Words, proteins, images — all mapped into high-dimensional space where geometry encodes meaning.</a:t>
            </a:r>
          </a:p>
          <a:p>
            <a:pPr lvl="0" indent="0" marL="0">
              <a:buNone/>
            </a:pPr>
            <a:r>
              <a:rPr b="1"/>
              <a:t>A pattern machine, not a reasoning engine.</a:t>
            </a:r>
          </a:p>
          <a:p>
            <a:pPr lvl="0"/>
            <a:r>
              <a:rPr/>
              <a:t>Reasoning-like behaviour emerges from statistical structure; there is no world-model inside.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very quick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Before 2013</a:t>
            </a:r>
            <a:r>
              <a:rPr/>
              <a:t> — NLP existed (TF–IDF, spam filters, bag-of-words). Useful but shallow.</a:t>
            </a:r>
          </a:p>
          <a:p>
            <a:pPr lvl="0"/>
            <a:r>
              <a:rPr b="1"/>
              <a:t>2013 Word2Vec</a:t>
            </a:r>
            <a:r>
              <a:rPr/>
              <a:t> — word meanings as vectors; </a:t>
            </a:r>
            <a:r>
              <a:rPr i="1"/>
              <a:t>“king − man + woman ≈ queen”</a:t>
            </a:r>
            <a:r>
              <a:rPr/>
              <a:t>.</a:t>
            </a:r>
          </a:p>
          <a:p>
            <a:pPr lvl="0"/>
            <a:r>
              <a:rPr b="1"/>
              <a:t>2017 Transformer</a:t>
            </a:r>
            <a:r>
              <a:rPr/>
              <a:t> — </a:t>
            </a:r>
            <a:r>
              <a:rPr i="1"/>
              <a:t>“Attention Is All You Need”</a:t>
            </a:r>
            <a:r>
              <a:rPr/>
              <a:t>; massively parallel training unlocks scale.</a:t>
            </a:r>
          </a:p>
          <a:p>
            <a:pPr lvl="0"/>
            <a:r>
              <a:rPr b="1"/>
              <a:t>2020 GPT-3</a:t>
            </a:r>
            <a:r>
              <a:rPr/>
              <a:t> — scale produces new capabilities; </a:t>
            </a:r>
            <a:r>
              <a:rPr i="1"/>
              <a:t>emergence</a:t>
            </a:r>
            <a:r>
              <a:rPr/>
              <a:t>.</a:t>
            </a:r>
          </a:p>
          <a:p>
            <a:pPr lvl="0"/>
            <a:r>
              <a:rPr b="1"/>
              <a:t>2022 ChatGPT</a:t>
            </a:r>
            <a:r>
              <a:rPr/>
              <a:t> — RLHF turns the raw model into a public-facing assistant.</a:t>
            </a:r>
          </a:p>
          <a:p>
            <a:pPr lvl="0"/>
            <a:r>
              <a:rPr b="1"/>
              <a:t>2024+</a:t>
            </a:r>
            <a:r>
              <a:rPr/>
              <a:t> — multimodal, agentic, scientific applications.</a:t>
            </a:r>
          </a:p>
          <a:p>
            <a:pPr lvl="0" indent="0" marL="0">
              <a:buNone/>
            </a:pPr>
            <a:r>
              <a:rPr b="1" i="1"/>
              <a:t>Key point.</a:t>
            </a:r>
            <a:r>
              <a:rPr/>
              <a:t> Every frontier system today is a transformer. The recipe hasn’t fundamentally changed since 2017.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LLMs: the word-embedding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NLP existed before LLMs but was limited — spam filtering, document similarity, sentiment.</a:t>
            </a:r>
          </a:p>
          <a:p>
            <a:pPr lvl="0"/>
            <a:r>
              <a:rPr/>
              <a:t>Neural networks worked well on images (pixels are numbers) but struggled with text.</a:t>
            </a:r>
          </a:p>
          <a:p>
            <a:pPr lvl="0"/>
            <a:r>
              <a:rPr/>
              <a:t>How do you convert text into meaningful numbers? Assigning each word an integer carries no semantic meaning.</a:t>
            </a:r>
          </a:p>
          <a:p>
            <a:pPr lvl="0"/>
            <a:r>
              <a:rPr i="1"/>
              <a:t>The key insight — represent meaning as direction in a high-dimensional space.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Embeddings — meaning as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idea</a:t>
            </a:r>
          </a:p>
          <a:p>
            <a:pPr lvl="0" indent="0" marL="0">
              <a:buNone/>
            </a:pPr>
            <a:r>
              <a:rPr/>
              <a:t>Words, sentences, even proteins become vectors in a high-dimensional space.</a:t>
            </a:r>
          </a:p>
          <a:p>
            <a:pPr lvl="0" indent="0" marL="0">
              <a:buNone/>
            </a:pPr>
            <a:r>
              <a:rPr/>
              <a:t>Co-occurring tokens cluster together; similar meanings point in similar directions.</a:t>
            </a:r>
          </a:p>
          <a:p>
            <a:pPr lvl="0" indent="0" marL="0">
              <a:buNone/>
            </a:pPr>
            <a:r>
              <a:rPr/>
              <a:t>Enables semantic search and clustering — the same trick powers protein language models, gene embeddings, SMILES chemistry models.</a:t>
            </a:r>
          </a:p>
          <a:p>
            <a:pPr lvl="0" indent="0" marL="0">
              <a:buNone/>
            </a:pPr>
            <a:r>
              <a:rPr i="1"/>
              <a:t>Whenever you see an “AI for bio” model, an embedding space is doing the work.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clusters</a:t>
            </a:r>
          </a:p>
          <a:p>
            <a:pPr lvl="0" indent="0" marL="0">
              <a:buNone/>
            </a:pPr>
            <a:r>
              <a:rPr i="1"/>
              <a:t>biology</a:t>
            </a:r>
            <a:r>
              <a:rPr/>
              <a:t> — </a:t>
            </a:r>
            <a:r>
              <a:rPr i="1"/>
              <a:t>protein · cell · peptide · gene</a:t>
            </a:r>
          </a:p>
          <a:p>
            <a:pPr lvl="0" indent="0" marL="0">
              <a:buNone/>
            </a:pPr>
            <a:r>
              <a:rPr b="1"/>
              <a:t>Analogy (Word2Vec)</a:t>
            </a:r>
          </a:p>
          <a:p>
            <a:pPr lvl="0" indent="0" marL="0">
              <a:buNone/>
            </a:pPr>
            <a:r>
              <a:rPr i="1"/>
              <a:t>king − man + woman ≈ queen</a:t>
            </a:r>
          </a:p>
          <a:p>
            <a:pPr lvl="0" indent="0" marL="0">
              <a:buNone/>
            </a:pPr>
            <a:r>
              <a:rPr/>
              <a:t>The vector from man→woman is parallel to king→queen. That direction encodes “female”. Meaning is geometry.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Attention — context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mechanism that decides, for each token, which other tokens in the context matter.</a:t>
            </a:r>
          </a:p>
          <a:p>
            <a:pPr lvl="0" indent="0" marL="1270000">
              <a:buNone/>
            </a:pPr>
            <a:r>
              <a:rPr sz="2000" i="1"/>
              <a:t>“The assay failed because it was contaminated.”</a:t>
            </a:r>
          </a:p>
          <a:p>
            <a:pPr lvl="0" indent="0" marL="0">
              <a:buNone/>
            </a:pPr>
            <a:r>
              <a:rPr/>
              <a:t>What does </a:t>
            </a:r>
            <a:r>
              <a:rPr i="1"/>
              <a:t>it</a:t>
            </a:r>
            <a:r>
              <a:rPr/>
              <a:t> refer to? Attention figures this out by weighting every other token.</a:t>
            </a:r>
          </a:p>
          <a:p>
            <a:pPr lvl="0"/>
            <a:r>
              <a:rPr b="1"/>
              <a:t>Long-range dependencies</a:t>
            </a:r>
            <a:r>
              <a:rPr/>
              <a:t> — any two tokens connect in one step, regardless of distance.</a:t>
            </a:r>
          </a:p>
          <a:p>
            <a:pPr lvl="0"/>
            <a:r>
              <a:rPr b="1"/>
              <a:t>Parallelisable</a:t>
            </a:r>
            <a:r>
              <a:rPr/>
              <a:t> — every token’s attention is computed simultaneously on a GPU. This is the secret behind scale.</a:t>
            </a:r>
          </a:p>
          <a:p>
            <a:pPr lvl="0"/>
            <a:r>
              <a:rPr b="1"/>
              <a:t>Multi-headed</a:t>
            </a:r>
            <a:r>
              <a:rPr/>
              <a:t> — several attention functions run in parallel, capturing different relationships (syntactic, semantic, coreference).</a:t>
            </a:r>
          </a:p>
          <a:p>
            <a:pPr lvl="0" indent="0" marL="0">
              <a:buNone/>
            </a:pPr>
            <a:r>
              <a:rPr b="1" i="1"/>
              <a:t>Reference.</a:t>
            </a:r>
            <a:r>
              <a:rPr/>
              <a:t> Vaswani et al. (2017), </a:t>
            </a:r>
            <a:r>
              <a:rPr i="1"/>
              <a:t>Attention Is All You Need</a:t>
            </a:r>
            <a:r>
              <a:rPr/>
              <a:t>. </a:t>
            </a:r>
            <a:r>
              <a:rPr>
                <a:hlinkClick r:id="rId2"/>
              </a:rPr>
              <a:t>arxiv.org/abs/1706.03762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 vs. ChatGPT / Claude /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Base LLM</a:t>
            </a:r>
          </a:p>
          <a:p>
            <a:pPr lvl="0"/>
            <a:r>
              <a:rPr/>
              <a:t>Pure text prediction.</a:t>
            </a:r>
          </a:p>
          <a:p>
            <a:pPr lvl="0"/>
            <a:r>
              <a:rPr/>
              <a:t>No ethics or safety — will happily explain how to make a bomb.</a:t>
            </a:r>
          </a:p>
          <a:p>
            <a:pPr lvl="0"/>
            <a:r>
              <a:rPr/>
              <a:t>No memory.</a:t>
            </a:r>
          </a:p>
          <a:p>
            <a:pPr lvl="0"/>
            <a:r>
              <a:rPr/>
              <a:t>No personality.</a:t>
            </a:r>
          </a:p>
          <a:p>
            <a:pPr lvl="0"/>
            <a:r>
              <a:rPr/>
              <a:t>No tools — you give it text, it gives you text.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Product</a:t>
            </a:r>
          </a:p>
          <a:p>
            <a:pPr lvl="0"/>
            <a:r>
              <a:rPr/>
              <a:t>Behaviour-shaped via RLHF.</a:t>
            </a:r>
          </a:p>
          <a:p>
            <a:pPr lvl="0"/>
            <a:r>
              <a:rPr/>
              <a:t>Hidden system prompt on every invocation.</a:t>
            </a:r>
          </a:p>
          <a:p>
            <a:pPr lvl="0"/>
            <a:r>
              <a:rPr/>
              <a:t>Guardrails — filter and refuse unsafe content.</a:t>
            </a:r>
          </a:p>
          <a:p>
            <a:pPr lvl="0"/>
            <a:r>
              <a:rPr/>
              <a:t>Tools — web search, file access, code execution.</a:t>
            </a:r>
          </a:p>
          <a:p>
            <a:pPr lvl="0"/>
            <a:r>
              <a:rPr/>
              <a:t>Context — can remember what you said.</a:t>
            </a:r>
          </a:p>
          <a:p>
            <a:pPr lvl="0" indent="0" marL="0">
              <a:buNone/>
            </a:pPr>
            <a:r>
              <a:rPr i="1"/>
              <a:t>When you read about “GPT-4’s reasoning”, it’s the model plus the wrapper.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quick demo…</a:t>
            </a:r>
          </a:p>
        </p:txBody>
      </p:sp>
      <p:pic>
        <p:nvPicPr>
          <p:cNvPr descr="img/imag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193800"/>
            <a:ext cx="660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 i="1"/>
              <a:t>Comparing an “untuned” base model to a “tuned” model with instructions to be ethical.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RLHF?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Reinforcement Learning with Human Feedback.</a:t>
            </a:r>
          </a:p>
          <a:p>
            <a:pPr lvl="0"/>
            <a:r>
              <a:rPr/>
              <a:t>Humans ask the model questions and score answers; the model is then trained to favour high-scoring responses.</a:t>
            </a:r>
          </a:p>
          <a:p>
            <a:pPr lvl="0"/>
            <a:r>
              <a:rPr/>
              <a:t>Iterative and time-consuming, so a second neural network is trained to score for the humans (a “reward model”).</a:t>
            </a:r>
          </a:p>
          <a:p>
            <a:pPr lvl="0"/>
            <a:r>
              <a:rPr/>
              <a:t>Reshapes behaviour — tone, structure, refusals — not facts. Knowledge already lives in the base model.</a:t>
            </a:r>
          </a:p>
          <a:p>
            <a:pPr lvl="0"/>
            <a:r>
              <a:rPr i="1"/>
              <a:t>Side-effect: optimising for human approval biases models toward telling you what you want to hear.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RLHF, in more detail — like editing a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RLHF step</a:t>
            </a:r>
          </a:p>
          <a:p>
            <a:pPr lvl="0" indent="0" marL="0">
              <a:buNone/>
            </a:pPr>
            <a:r>
              <a:rPr b="1"/>
              <a:t>Pre-trained base model.</a:t>
            </a:r>
            <a:r>
              <a:rPr/>
              <a:t> Knows how to predict tokens, but is verbose, inconsistent, sometimes evasive.</a:t>
            </a:r>
          </a:p>
          <a:p>
            <a:pPr lvl="0" indent="0" marL="0">
              <a:buNone/>
            </a:pPr>
            <a:r>
              <a:rPr b="1"/>
              <a:t>Supervised fine-tuning.</a:t>
            </a:r>
            <a:r>
              <a:rPr/>
              <a:t> Humans write high-quality example conversations; the model imitates them.</a:t>
            </a:r>
          </a:p>
          <a:p>
            <a:pPr lvl="0" indent="0" marL="0">
              <a:buNone/>
            </a:pPr>
            <a:r>
              <a:rPr b="1"/>
              <a:t>Reward model.</a:t>
            </a:r>
            <a:r>
              <a:rPr/>
              <a:t> Humans rank pairs of outputs; a second network learns to predict those preferences.</a:t>
            </a:r>
          </a:p>
          <a:p>
            <a:pPr lvl="0" indent="0" marL="0">
              <a:buNone/>
            </a:pPr>
            <a:r>
              <a:rPr b="1"/>
              <a:t>RL step.</a:t>
            </a:r>
            <a:r>
              <a:rPr/>
              <a:t> The main model is tuned so its outputs score higher against the reward model. Iterate → helpful, polite, usually safe.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Thesis analogy</a:t>
            </a:r>
          </a:p>
          <a:p>
            <a:pPr lvl="0" indent="0" marL="0">
              <a:buNone/>
            </a:pPr>
            <a:r>
              <a:rPr b="1"/>
              <a:t>Draft.</a:t>
            </a:r>
            <a:r>
              <a:rPr/>
              <a:t> You’ve done the reading, but your prose is too long, casual, and off-topic.</a:t>
            </a:r>
          </a:p>
          <a:p>
            <a:pPr lvl="0" indent="0" marL="0">
              <a:buNone/>
            </a:pPr>
            <a:r>
              <a:rPr b="1"/>
              <a:t>Supervisor lectures you.</a:t>
            </a:r>
            <a:r>
              <a:rPr/>
              <a:t> They give you well-written examples; you imitate them. Already much better.</a:t>
            </a:r>
          </a:p>
          <a:p>
            <a:pPr lvl="0" indent="0" marL="0">
              <a:buNone/>
            </a:pPr>
            <a:r>
              <a:rPr b="1"/>
              <a:t>Trained postdoc.</a:t>
            </a:r>
            <a:r>
              <a:rPr/>
              <a:t> The supervisor can’t review every draft, so they train a postdoc to judge writing the same way.</a:t>
            </a:r>
          </a:p>
          <a:p>
            <a:pPr lvl="0" indent="0" marL="0">
              <a:buNone/>
            </a:pPr>
            <a:r>
              <a:rPr b="1"/>
              <a:t>Iterate.</a:t>
            </a:r>
            <a:r>
              <a:rPr/>
              <a:t> Postdoc scores your work; you learn what earns ticks. Eventually you write with the right voice by default.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LLMs are helpful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Coding.</a:t>
            </a:r>
          </a:p>
          <a:p>
            <a:pPr lvl="0"/>
            <a:r>
              <a:rPr/>
              <a:t>The original use case — boilerplate, conversion between languages, unit tests, debugging.</a:t>
            </a:r>
          </a:p>
          <a:p>
            <a:pPr lvl="0" indent="0" marL="0">
              <a:buNone/>
            </a:pPr>
            <a:r>
              <a:rPr b="1"/>
              <a:t>Literature triage.</a:t>
            </a:r>
          </a:p>
          <a:p>
            <a:pPr lvl="0"/>
            <a:r>
              <a:rPr/>
              <a:t>Is this paper worth reading? Summaries, method comparison, reagents.</a:t>
            </a:r>
          </a:p>
          <a:p>
            <a:pPr lvl="0" indent="0" marL="0">
              <a:buNone/>
            </a:pPr>
            <a:r>
              <a:rPr b="1"/>
              <a:t>Data wrangling.</a:t>
            </a:r>
          </a:p>
          <a:p>
            <a:pPr lvl="0"/>
            <a:r>
              <a:rPr/>
              <a:t>Extracting structured data from PDFs and free text — traditionally very hard to automate.</a:t>
            </a:r>
          </a:p>
          <a:p>
            <a:pPr lvl="0" indent="0" marL="0">
              <a:buNone/>
            </a:pPr>
            <a:r>
              <a:rPr b="1"/>
              <a:t>Drafting routine documents.</a:t>
            </a:r>
          </a:p>
          <a:p>
            <a:pPr lvl="0"/>
            <a:r>
              <a:rPr/>
              <a:t>Weekly progress summaries, SOPs, risk assessments. Not theses or papers.</a:t>
            </a:r>
          </a:p>
          <a:p>
            <a:pPr lvl="0" indent="0" marL="0">
              <a:buNone/>
            </a:pPr>
            <a:r>
              <a:rPr b="1"/>
              <a:t>Figure iteration &amp; formatting.</a:t>
            </a:r>
          </a:p>
          <a:p>
            <a:pPr lvl="0"/>
            <a:r>
              <a:rPr/>
              <a:t>Endless ggplot / matplotlib / LaTeX back-and-forth disappears.</a:t>
            </a:r>
          </a:p>
          <a:p>
            <a:pPr lvl="0" indent="0" marL="0">
              <a:buNone/>
            </a:pPr>
            <a:r>
              <a:rPr i="1"/>
              <a:t>Always verify — if you can’t check the output, you’re taking a huge risk.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and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Theses and manuscripts.</a:t>
            </a:r>
          </a:p>
          <a:p>
            <a:pPr lvl="0"/>
            <a:r>
              <a:rPr/>
              <a:t>Integrity, ownership, and disclosure requirements from funders and journals. Know your local policy.</a:t>
            </a:r>
          </a:p>
          <a:p>
            <a:pPr lvl="0" indent="0" marL="0">
              <a:buNone/>
            </a:pPr>
            <a:r>
              <a:rPr b="1"/>
              <a:t>Unpublished or confidential data.</a:t>
            </a:r>
          </a:p>
          <a:p>
            <a:pPr lvl="0"/>
            <a:r>
              <a:rPr/>
              <a:t>By default, anything you paste leaves your machine and is logged (usually in US jurisdiction). Patient data: never via consumer products.</a:t>
            </a:r>
          </a:p>
          <a:p>
            <a:pPr lvl="0" indent="0" marL="0">
              <a:buNone/>
            </a:pPr>
            <a:r>
              <a:rPr b="1"/>
              <a:t>Statistical verdicts.</a:t>
            </a:r>
          </a:p>
          <a:p>
            <a:pPr lvl="0"/>
            <a:r>
              <a:rPr/>
              <a:t>The model can write the code, but you have to own the interpretation. P-values aren’t vibes-based.</a:t>
            </a:r>
          </a:p>
          <a:p>
            <a:pPr lvl="0" indent="0" marL="0">
              <a:buNone/>
            </a:pPr>
            <a:r>
              <a:rPr b="1"/>
              <a:t>Disclosure.</a:t>
            </a:r>
          </a:p>
          <a:p>
            <a:pPr lvl="0"/>
            <a:r>
              <a:rPr/>
              <a:t>When in doubt, declare LLM use — it’s increasingly expected.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Hallucination.</a:t>
            </a:r>
          </a:p>
          <a:p>
            <a:pPr lvl="0"/>
            <a:r>
              <a:rPr/>
              <a:t>Confident, plausible nonsense — worst around citations, authors, and other precise facts.</a:t>
            </a:r>
          </a:p>
          <a:p>
            <a:pPr lvl="0" indent="0" marL="0">
              <a:buNone/>
            </a:pPr>
            <a:r>
              <a:rPr b="1"/>
              <a:t>Plausibility bias.</a:t>
            </a:r>
          </a:p>
          <a:p>
            <a:pPr lvl="0"/>
            <a:r>
              <a:rPr/>
              <a:t>Trained to produce confident-sounding output. Confidence ≠ correctness.</a:t>
            </a:r>
          </a:p>
          <a:p>
            <a:pPr lvl="0" indent="0" marL="0">
              <a:buNone/>
            </a:pPr>
            <a:r>
              <a:rPr b="1"/>
              <a:t>Sycophancy.</a:t>
            </a:r>
          </a:p>
          <a:p>
            <a:pPr lvl="0"/>
            <a:r>
              <a:rPr/>
              <a:t>Tends to agree with your framing. Don’t ask leading questions — can spiral into “this is groundbreaking work!”</a:t>
            </a:r>
          </a:p>
          <a:p>
            <a:pPr lvl="0" indent="0" marL="0">
              <a:buNone/>
            </a:pPr>
            <a:r>
              <a:rPr b="1"/>
              <a:t>Sampling variance.</a:t>
            </a:r>
          </a:p>
          <a:p>
            <a:pPr lvl="0"/>
            <a:r>
              <a:rPr/>
              <a:t>Built-in randomness (“temperature”) means the same prompt can produce different answers.</a:t>
            </a:r>
          </a:p>
          <a:p>
            <a:pPr lvl="0" indent="0" marL="0">
              <a:buNone/>
            </a:pPr>
            <a:r>
              <a:rPr i="1"/>
              <a:t>Treat the LLM like a fast but unreliable collaborator. You’d edit an RA’s draft — do the same here.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Further viewing /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3Blue1Brown — Neural Networks.</a:t>
            </a:r>
            <a:r>
              <a:rPr/>
              <a:t> </a:t>
            </a:r>
            <a:r>
              <a:rPr>
                <a:hlinkClick r:id="rId2"/>
              </a:rPr>
              <a:t>youtube.com/@3blue1brown</a:t>
            </a:r>
            <a:r>
              <a:rPr/>
              <a:t> · the gentlest introduction that isn’t hand-wavy.</a:t>
            </a:r>
          </a:p>
          <a:p>
            <a:pPr lvl="0"/>
            <a:r>
              <a:rPr b="1"/>
              <a:t>Andrej Karpathy — Intro to LLMs / Deep Dive into LLMs.</a:t>
            </a:r>
            <a:r>
              <a:rPr/>
              <a:t> </a:t>
            </a:r>
            <a:r>
              <a:rPr>
                <a:hlinkClick r:id="rId3"/>
              </a:rPr>
              <a:t>youtube.com/@AndrejKarpathy</a:t>
            </a:r>
            <a:r>
              <a:rPr/>
              <a:t> · a software engineer’s tour, very long.</a:t>
            </a:r>
          </a:p>
          <a:p>
            <a:pPr lvl="0"/>
            <a:r>
              <a:rPr b="1"/>
              <a:t>Jay Alammar — The Illustrated Transformer.</a:t>
            </a:r>
            <a:r>
              <a:rPr/>
              <a:t> </a:t>
            </a:r>
            <a:r>
              <a:rPr>
                <a:hlinkClick r:id="rId4"/>
              </a:rPr>
              <a:t>jalammar.github.io/illustrated-transformer</a:t>
            </a:r>
            <a:r>
              <a:rPr/>
              <a:t> · the definitive picture-led explainer.</a:t>
            </a:r>
          </a:p>
          <a:p>
            <a:pPr lvl="0"/>
            <a:r>
              <a:rPr b="1"/>
              <a:t>Stephen Wolfram — What Is ChatGPT Doing… and Why Does It Work?</a:t>
            </a:r>
            <a:r>
              <a:rPr/>
              <a:t> </a:t>
            </a:r>
            <a:r>
              <a:rPr>
                <a:hlinkClick r:id="rId5"/>
              </a:rPr>
              <a:t>writings.stephenwolfram.com/2023/02/</a:t>
            </a:r>
            <a:r>
              <a:rPr/>
              <a:t> · book-length essay, very readable.</a:t>
            </a:r>
          </a:p>
          <a:p>
            <a:pPr lvl="0"/>
            <a:r>
              <a:rPr b="1"/>
              <a:t>Neil Lawrence — The Atomic Human.</a:t>
            </a:r>
            <a:r>
              <a:rPr/>
              <a:t> Cambridge ML professor on what AI is, isn’t, and what it means for us.</a:t>
            </a:r>
          </a:p>
          <a:p>
            <a:pPr lvl="0"/>
            <a:r>
              <a:rPr b="1"/>
              <a:t>Sebastian Raschka — Build a Large Language Model (From Scratch).</a:t>
            </a:r>
            <a:r>
              <a:rPr/>
              <a:t> </a:t>
            </a:r>
            <a:r>
              <a:rPr>
                <a:hlinkClick r:id="rId6"/>
              </a:rPr>
              <a:t>manning.com</a:t>
            </a:r>
            <a:r>
              <a:rPr/>
              <a:t> · if you want to implement one.</a:t>
            </a:r>
          </a:p>
          <a:p>
            <a:pPr lvl="0"/>
            <a:r>
              <a:rPr b="1"/>
              <a:t>Anthropic — Mapping the Mind of a Large Language Model.</a:t>
            </a:r>
            <a:r>
              <a:rPr/>
              <a:t> </a:t>
            </a:r>
            <a:r>
              <a:rPr>
                <a:hlinkClick r:id="rId7"/>
              </a:rPr>
              <a:t>anthropic.com/research</a:t>
            </a:r>
            <a:r>
              <a:rPr/>
              <a:t> · interpretability — what’s actually inside the network.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few more good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in general, not just LLMs.</a:t>
            </a:r>
          </a:p>
          <a:p>
            <a:pPr lvl="0"/>
            <a:r>
              <a:rPr/>
              <a:t>Royal Society lecture — </a:t>
            </a:r>
            <a:r>
              <a:rPr i="1"/>
              <a:t>“This is not the AI we were promised”</a:t>
            </a:r>
            <a:r>
              <a:rPr/>
              <a:t>.</a:t>
            </a:r>
          </a:p>
          <a:p>
            <a:pPr lvl="0"/>
            <a:r>
              <a:rPr/>
              <a:t>Hannah Fry TV series — </a:t>
            </a:r>
            <a:r>
              <a:rPr i="1"/>
              <a:t>“AI Confidential”</a:t>
            </a:r>
            <a:r>
              <a:rPr/>
              <a:t>.</a:t>
            </a:r>
          </a:p>
          <a:p>
            <a:pPr lvl="0"/>
            <a:r>
              <a:rPr/>
              <a:t>Free GitHub Copilot for students (including PhDs) — sign up via the student pack.</a:t>
            </a:r>
          </a:p>
          <a:p>
            <a:pPr lvl="0"/>
            <a:r>
              <a:rPr/>
              <a:t>Want to run an LLM on your laptop? Ask your favourite assistant about </a:t>
            </a:r>
            <a:r>
              <a:rPr i="1"/>
              <a:t>Ollama</a:t>
            </a:r>
            <a:r>
              <a:rPr/>
              <a:t> or </a:t>
            </a:r>
            <a:r>
              <a:rPr i="1"/>
              <a:t>LM Studio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Bonus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Q.</a:t>
            </a:r>
            <a:r>
              <a:rPr/>
              <a:t> </a:t>
            </a:r>
            <a:r>
              <a:rPr i="1"/>
              <a:t>If LLMs only predict one word at a time, how come we see whole sentences — even essays?</a:t>
            </a:r>
          </a:p>
          <a:p>
            <a:pPr lvl="0" indent="0" marL="0">
              <a:buNone/>
            </a:pPr>
            <a:r>
              <a:rPr b="1"/>
              <a:t>A.</a:t>
            </a:r>
            <a:r>
              <a:rPr/>
              <a:t> After it emits one word, the tooling feeds the prompt plus the new word back into the model to get the next one. Then repeat.</a:t>
            </a:r>
          </a:p>
          <a:p>
            <a:pPr lvl="0" indent="0" marL="0">
              <a:buNone/>
            </a:pPr>
            <a:r>
              <a:rPr b="1"/>
              <a:t>Q.</a:t>
            </a:r>
            <a:r>
              <a:rPr/>
              <a:t> </a:t>
            </a:r>
            <a:r>
              <a:rPr i="1"/>
              <a:t>So if it just keeps adding words, how does it ever stop?</a:t>
            </a:r>
          </a:p>
          <a:p>
            <a:pPr lvl="0" indent="0" marL="0">
              <a:buNone/>
            </a:pPr>
            <a:r>
              <a:rPr b="1"/>
              <a:t>A.</a:t>
            </a:r>
            <a:r>
              <a:rPr/>
              <a:t> There’s a special “hidden” word inside the model called </a:t>
            </a:r>
            <a:r>
              <a:rPr>
                <a:latin typeface="Courier"/>
              </a:rPr>
              <a:t>&lt;STOP&gt;</a:t>
            </a:r>
            <a:r>
              <a:rPr/>
              <a:t>. When that token comes up, the tool knows to stop feeding text back in. It’s a learned token, used like any other.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 —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 LLMs work?</dc:title>
  <dc:creator>Steve Haigh</dc:creator>
  <cp:keywords/>
  <dcterms:created xsi:type="dcterms:W3CDTF">2026-09-15T14:30:24Z</dcterms:created>
  <dcterms:modified xsi:type="dcterms:W3CDTF">2026-09-15T14:30:24Z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30 Apr 2026</vt:lpwstr>
  </property>
  <property fmtid="{D5CDD505-2E9C-101B-9397-08002B2CF9AE}" pid="6" name="date-format">
    <vt:lpwstr>D MMM YYYY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A shallow-dive into LLMs</vt:lpwstr>
  </property>
  <property fmtid="{D5CDD505-2E9C-101B-9397-08002B2CF9AE}" pid="12" name="toc-title">
    <vt:lpwstr>Table of contents</vt:lpwstr>
  </property>
</Properties>
</file>