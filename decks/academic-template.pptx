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7303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914400"/>
            <a:ext cx="1280160" cy="0"/>
          </a:xfrm>
          <a:prstGeom prst="line">
            <a:avLst/>
          </a:prstGeom>
          <a:noFill/>
          <a:ln w="9525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685800" y="100584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B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research talk · [year]</a:t>
            </a:r>
            <a:endParaRPr lang="en-US" sz="1000" dirty="0"/>
          </a:p>
        </p:txBody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685800" y="1554480"/>
            <a:ext cx="9905695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dirty="0">
                <a:solidFill>
                  <a:srgbClr val="1A1A1A"/>
                </a:solidFill>
                <a:latin typeface="Source Serif 4 Medium" pitchFamily="34" charset="0"/>
                <a:ea typeface="Source Serif 4 Medium" pitchFamily="34" charset="-122"/>
                <a:cs typeface="Source Serif 4 Medium" pitchFamily="34" charset="-120"/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5" name="Text 2"/>
          <p:cNvSpPr>
            <a:spLocks noGrp="1"/>
          </p:cNvSpPr>
          <p:nvPr>
            <p:ph type="body" idx="103" hasCustomPrompt="1"/>
          </p:nvPr>
        </p:nvSpPr>
        <p:spPr>
          <a:xfrm>
            <a:off x="685800" y="3657600"/>
            <a:ext cx="1082009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rgbClr val="1A1A1A"/>
                </a:solidFill>
                <a:latin typeface="Source Serif 4 Medium" pitchFamily="34" charset="0"/>
                <a:ea typeface="Source Serif 4 Medium" pitchFamily="34" charset="-122"/>
                <a:cs typeface="Source Serif 4 Medium" pitchFamily="34" charset="-120"/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85800" y="2286000"/>
            <a:ext cx="27432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600" dirty="0">
                <a:solidFill>
                  <a:srgbClr val="6B6B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marL="0" indent="0" algn="l">
              <a:buNone/>
            </a:pPr>
            <a:endParaRPr lang="en-US" sz="56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85800" y="3429000"/>
            <a:ext cx="1082009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dirty="0">
                <a:solidFill>
                  <a:srgbClr val="1A1A1A"/>
                </a:solidFill>
                <a:latin typeface="Source Serif 4 Medium" pitchFamily="34" charset="0"/>
                <a:ea typeface="Source Serif 4 Medium" pitchFamily="34" charset="-122"/>
                <a:cs typeface="Source Serif 4 Medium" pitchFamily="34" charset="-120"/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4" name="Shape 0"/>
          <p:cNvSpPr/>
          <p:nvPr/>
        </p:nvSpPr>
        <p:spPr>
          <a:xfrm>
            <a:off x="685800" y="4297680"/>
            <a:ext cx="2011680" cy="0"/>
          </a:xfrm>
          <a:prstGeom prst="line">
            <a:avLst/>
          </a:prstGeom>
          <a:noFill/>
          <a:ln w="9525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53796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481328"/>
            <a:ext cx="10820095" cy="0"/>
          </a:xfrm>
          <a:prstGeom prst="line">
            <a:avLst/>
          </a:prstGeom>
          <a:noFill/>
          <a:ln w="6350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>
            <a:spLocks noGrp="1"/>
          </p:cNvSpPr>
          <p:nvPr>
            <p:ph type="body" idx="101" hasCustomPrompt="1"/>
          </p:nvPr>
        </p:nvSpPr>
        <p:spPr>
          <a:xfrm>
            <a:off x="685800" y="274320"/>
            <a:ext cx="6492057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000" dirty="0">
                <a:solidFill>
                  <a:srgbClr val="6B6B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685800" y="868680"/>
            <a:ext cx="10820095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dirty="0">
                <a:solidFill>
                  <a:srgbClr val="1A1A1A"/>
                </a:solidFill>
                <a:latin typeface="Source Serif 4 Medium" pitchFamily="34" charset="0"/>
                <a:ea typeface="Source Serif 4 Medium" pitchFamily="34" charset="-122"/>
                <a:cs typeface="Source Serif 4 Medium" pitchFamily="34" charset="-120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685800" y="1709928"/>
            <a:ext cx="10820095" cy="4507992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rgbClr val="1A1A1A"/>
                </a:solidFill>
                <a:latin typeface="Source Serif 4 Medium" pitchFamily="34" charset="0"/>
                <a:ea typeface="Source Serif 4 Medium" pitchFamily="34" charset="-122"/>
                <a:cs typeface="Source Serif 4 Medium" pitchFamily="34" charset="-120"/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53796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UFTE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481328"/>
            <a:ext cx="10820095" cy="0"/>
          </a:xfrm>
          <a:prstGeom prst="line">
            <a:avLst/>
          </a:prstGeom>
          <a:noFill/>
          <a:ln w="6350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>
            <a:spLocks noGrp="1"/>
          </p:cNvSpPr>
          <p:nvPr>
            <p:ph type="body" idx="101" hasCustomPrompt="1"/>
          </p:nvPr>
        </p:nvSpPr>
        <p:spPr>
          <a:xfrm>
            <a:off x="685800" y="274320"/>
            <a:ext cx="6492057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000" dirty="0">
                <a:solidFill>
                  <a:srgbClr val="6B6B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685800" y="868680"/>
            <a:ext cx="10820095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dirty="0">
                <a:solidFill>
                  <a:srgbClr val="1A1A1A"/>
                </a:solidFill>
                <a:latin typeface="Source Serif 4 Medium" pitchFamily="34" charset="0"/>
                <a:ea typeface="Source Serif 4 Medium" pitchFamily="34" charset="-122"/>
                <a:cs typeface="Source Serif 4 Medium" pitchFamily="34" charset="-120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685800" y="1709928"/>
            <a:ext cx="8115071" cy="4507992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700" dirty="0">
                <a:solidFill>
                  <a:srgbClr val="1A1A1A"/>
                </a:solidFill>
                <a:latin typeface="Source Serif 4 Medium" pitchFamily="34" charset="0"/>
                <a:ea typeface="Source Serif 4 Medium" pitchFamily="34" charset="-122"/>
                <a:cs typeface="Source Serif 4 Medium" pitchFamily="34" charset="-120"/>
              </a:defRPr>
            </a:lvl1pPr>
          </a:lstStyle>
          <a:p>
            <a:pPr marL="0" indent="0" algn="l">
              <a:buNone/>
            </a:pPr>
            <a:endParaRPr lang="en-US" sz="1700" dirty="0"/>
          </a:p>
        </p:txBody>
      </p:sp>
      <p:sp>
        <p:nvSpPr>
          <p:cNvPr id="6" name="Text 1"/>
          <p:cNvSpPr>
            <a:spLocks noGrp="1"/>
          </p:cNvSpPr>
          <p:nvPr>
            <p:ph type="body" idx="104" hasCustomPrompt="1"/>
          </p:nvPr>
        </p:nvSpPr>
        <p:spPr>
          <a:xfrm>
            <a:off x="9341876" y="1709928"/>
            <a:ext cx="2164019" cy="4507992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100" i="1" dirty="0">
                <a:solidFill>
                  <a:srgbClr val="6B6B6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53796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481328"/>
            <a:ext cx="10820095" cy="0"/>
          </a:xfrm>
          <a:prstGeom prst="line">
            <a:avLst/>
          </a:prstGeom>
          <a:noFill/>
          <a:ln w="6350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>
            <a:spLocks noGrp="1"/>
          </p:cNvSpPr>
          <p:nvPr>
            <p:ph type="body" idx="101" hasCustomPrompt="1"/>
          </p:nvPr>
        </p:nvSpPr>
        <p:spPr>
          <a:xfrm>
            <a:off x="685800" y="274320"/>
            <a:ext cx="6492057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000" dirty="0">
                <a:solidFill>
                  <a:srgbClr val="6B6B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685800" y="868680"/>
            <a:ext cx="10820095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dirty="0">
                <a:solidFill>
                  <a:srgbClr val="1A1A1A"/>
                </a:solidFill>
                <a:latin typeface="Source Serif 4 Medium" pitchFamily="34" charset="0"/>
                <a:ea typeface="Source Serif 4 Medium" pitchFamily="34" charset="-122"/>
                <a:cs typeface="Source Serif 4 Medium" pitchFamily="34" charset="-120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868680" y="1984248"/>
            <a:ext cx="36576" cy="2743200"/>
          </a:xfrm>
          <a:prstGeom prst="rect">
            <a:avLst/>
          </a:prstGeom>
          <a:solidFill>
            <a:srgbClr val="D55E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2"/>
          <p:cNvSpPr>
            <a:spLocks noGrp="1"/>
          </p:cNvSpPr>
          <p:nvPr>
            <p:ph type="body" idx="104" hasCustomPrompt="1"/>
          </p:nvPr>
        </p:nvSpPr>
        <p:spPr>
          <a:xfrm>
            <a:off x="1097280" y="1984248"/>
            <a:ext cx="10225735" cy="347472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100" dirty="0">
                <a:solidFill>
                  <a:srgbClr val="D55E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7" name="Text 2"/>
          <p:cNvSpPr>
            <a:spLocks noGrp="1"/>
          </p:cNvSpPr>
          <p:nvPr>
            <p:ph type="body" idx="105" hasCustomPrompt="1"/>
          </p:nvPr>
        </p:nvSpPr>
        <p:spPr>
          <a:xfrm>
            <a:off x="1097280" y="2368296"/>
            <a:ext cx="10225735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i="1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53796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QUATION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85800" y="274320"/>
            <a:ext cx="6492057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000" dirty="0">
                <a:solidFill>
                  <a:srgbClr val="6B6B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85800" y="2194560"/>
            <a:ext cx="10820095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4400" i="1" dirty="0">
                <a:solidFill>
                  <a:srgbClr val="1A1A1A"/>
                </a:solidFill>
                <a:latin typeface="STIX Two Math" pitchFamily="34" charset="0"/>
                <a:ea typeface="STIX Two Math" pitchFamily="34" charset="-122"/>
                <a:cs typeface="STIX Two Math" pitchFamily="34" charset="-120"/>
              </a:defRPr>
            </a:lvl1pPr>
          </a:lstStyle>
          <a:p>
            <a:pPr marL="0" indent="0" algn="ctr">
              <a:buNone/>
            </a:pPr>
            <a:endParaRPr lang="en-US" sz="44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2057400" y="3749040"/>
            <a:ext cx="807689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300" i="1" dirty="0">
                <a:solidFill>
                  <a:srgbClr val="6B6B6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53796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COL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481328"/>
            <a:ext cx="10820095" cy="0"/>
          </a:xfrm>
          <a:prstGeom prst="line">
            <a:avLst/>
          </a:prstGeom>
          <a:noFill/>
          <a:ln w="6350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>
            <a:spLocks noGrp="1"/>
          </p:cNvSpPr>
          <p:nvPr>
            <p:ph type="body" idx="101" hasCustomPrompt="1"/>
          </p:nvPr>
        </p:nvSpPr>
        <p:spPr>
          <a:xfrm>
            <a:off x="685800" y="274320"/>
            <a:ext cx="6492057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000" dirty="0">
                <a:solidFill>
                  <a:srgbClr val="6B6B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685800" y="868680"/>
            <a:ext cx="10820095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dirty="0">
                <a:solidFill>
                  <a:srgbClr val="1A1A1A"/>
                </a:solidFill>
                <a:latin typeface="Source Serif 4 Medium" pitchFamily="34" charset="0"/>
                <a:ea typeface="Source Serif 4 Medium" pitchFamily="34" charset="-122"/>
                <a:cs typeface="Source Serif 4 Medium" pitchFamily="34" charset="-120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685800" y="1709928"/>
            <a:ext cx="5181448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000" kern="0" spc="200" dirty="0">
                <a:solidFill>
                  <a:srgbClr val="D55E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6" name="Text 1"/>
          <p:cNvSpPr>
            <a:spLocks noGrp="1"/>
          </p:cNvSpPr>
          <p:nvPr>
            <p:ph type="body" idx="104" hasCustomPrompt="1"/>
          </p:nvPr>
        </p:nvSpPr>
        <p:spPr>
          <a:xfrm>
            <a:off x="685800" y="2057400"/>
            <a:ext cx="5181448" cy="4160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500" dirty="0">
                <a:solidFill>
                  <a:srgbClr val="1A1A1A"/>
                </a:solidFill>
                <a:latin typeface="Source Serif 4 Medium" pitchFamily="34" charset="0"/>
                <a:ea typeface="Source Serif 4 Medium" pitchFamily="34" charset="-122"/>
                <a:cs typeface="Source Serif 4 Medium" pitchFamily="34" charset="-120"/>
              </a:defRPr>
            </a:lvl1pPr>
          </a:lstStyle>
          <a:p>
            <a:pPr marL="0" indent="0" algn="l">
              <a:buNone/>
            </a:pPr>
            <a:endParaRPr lang="en-US" sz="1500" dirty="0"/>
          </a:p>
        </p:txBody>
      </p:sp>
      <p:sp>
        <p:nvSpPr>
          <p:cNvPr id="7" name="Text 1"/>
          <p:cNvSpPr>
            <a:spLocks noGrp="1"/>
          </p:cNvSpPr>
          <p:nvPr>
            <p:ph type="body" idx="105" hasCustomPrompt="1"/>
          </p:nvPr>
        </p:nvSpPr>
        <p:spPr>
          <a:xfrm>
            <a:off x="6324448" y="1709928"/>
            <a:ext cx="5181448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000" kern="0" spc="200" dirty="0">
                <a:solidFill>
                  <a:srgbClr val="009E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8" name="Text 1"/>
          <p:cNvSpPr>
            <a:spLocks noGrp="1"/>
          </p:cNvSpPr>
          <p:nvPr>
            <p:ph type="body" idx="106" hasCustomPrompt="1"/>
          </p:nvPr>
        </p:nvSpPr>
        <p:spPr>
          <a:xfrm>
            <a:off x="6324448" y="2057400"/>
            <a:ext cx="5181448" cy="4160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500" dirty="0">
                <a:solidFill>
                  <a:srgbClr val="1A1A1A"/>
                </a:solidFill>
                <a:latin typeface="Source Serif 4 Medium" pitchFamily="34" charset="0"/>
                <a:ea typeface="Source Serif 4 Medium" pitchFamily="34" charset="-122"/>
                <a:cs typeface="Source Serif 4 Medium" pitchFamily="34" charset="-120"/>
              </a:defRPr>
            </a:lvl1pPr>
          </a:lstStyle>
          <a:p>
            <a:pPr marL="0" indent="0" algn="l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53796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56032"/>
            <a:ext cx="45720" cy="45720"/>
          </a:xfrm>
          <a:prstGeom prst="rect">
            <a:avLst/>
          </a:prstGeom>
          <a:solidFill>
            <a:srgbClr val="D55E00"/>
          </a:solidFill>
          <a:ln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53796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685800" y="1554480"/>
            <a:ext cx="9905695" cy="16459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4000" dirty="0">
                <a:solidFill>
                  <a:srgbClr val="1A1A1A"/>
                </a:solidFill>
                <a:latin typeface="Source Serif 4 Medium" pitchFamily="34" charset="0"/>
                <a:ea typeface="Source Serif 4 Medium" pitchFamily="34" charset="-122"/>
                <a:cs typeface="Source Serif 4 Medium" pitchFamily="34" charset="-120"/>
              </a:rPr>
              <a:t>On the dynamics of selection in structured populations</a:t>
            </a:r>
            <a:endParaRPr lang="en-US" sz="4000" dirty="0"/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685800" y="3657600"/>
            <a:ext cx="10820095" cy="1463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i="1" dirty="0"/>
              <a:t>A.N. </a:t>
            </a:r>
            <a:r>
              <a:rPr lang="en-US" i="1" dirty="0">
                <a:latin typeface="Source Serif 4" pitchFamily="34" charset="0"/>
                <a:ea typeface="Source Serif 4" pitchFamily="34" charset="-122"/>
              </a:rPr>
              <a:t>Other</a:t>
            </a:r>
            <a:endParaRPr lang="en-US" sz="18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6B6B6B"/>
                </a:solidFill>
                <a:latin typeface="Source Serif 4 Medium" pitchFamily="34" charset="0"/>
                <a:ea typeface="Source Serif 4 Medium" pitchFamily="34" charset="-122"/>
                <a:cs typeface="Source Serif 4 Medium" pitchFamily="34" charset="-120"/>
              </a:rPr>
              <a:t>Department of Computational &amp; Theoretical Biology</a:t>
            </a:r>
            <a:endParaRPr lang="en-US" sz="18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 may 2026</a:t>
            </a:r>
            <a:r>
              <a:rPr lang="en-US" sz="1000" dirty="0">
                <a:solidFill>
                  <a:srgbClr val="D55E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·  </a:t>
            </a:r>
            <a:r>
              <a:rPr lang="en-US" sz="1000" dirty="0">
                <a:solidFill>
                  <a:srgbClr val="6B6B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[venue]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85800" y="22860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5600" dirty="0">
                <a:solidFill>
                  <a:srgbClr val="6B6B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 2</a:t>
            </a:r>
            <a:endParaRPr lang="en-US" sz="56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85800" y="342900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3600" dirty="0">
                <a:solidFill>
                  <a:srgbClr val="1A1A1A"/>
                </a:solidFill>
                <a:latin typeface="Source Serif 4 Medium" pitchFamily="34" charset="0"/>
                <a:ea typeface="Source Serif 4 Medium" pitchFamily="34" charset="-122"/>
                <a:cs typeface="Source Serif 4 Medium" pitchFamily="34" charset="-120"/>
              </a:rPr>
              <a:t>Models of competition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53796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685800" y="274320"/>
            <a:ext cx="6492057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B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 2 · models of competition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685800" y="868680"/>
            <a:ext cx="10820095" cy="5943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3000" dirty="0">
                <a:solidFill>
                  <a:srgbClr val="1A1A1A"/>
                </a:solidFill>
                <a:latin typeface="Source Serif 4 Medium" pitchFamily="34" charset="0"/>
                <a:ea typeface="Source Serif 4 Medium" pitchFamily="34" charset="-122"/>
                <a:cs typeface="Source Serif 4 Medium" pitchFamily="34" charset="-120"/>
              </a:rPr>
              <a:t>Replicator dynamics on networks</a:t>
            </a:r>
            <a:endParaRPr lang="en-US" sz="30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685800" y="1709928"/>
            <a:ext cx="10820095" cy="4507992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Source Serif 4 Medium" pitchFamily="34" charset="0"/>
                <a:ea typeface="Source Serif 4 Medium" pitchFamily="34" charset="-122"/>
                <a:cs typeface="Source Serif 4 Medium" pitchFamily="34" charset="-120"/>
              </a:rPr>
              <a:t>We extend the standard replicator equation to populations structured on a graph G = (V, E). Each vertex carries a strategy profile, updated by pairwise comparison with neighbours.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Source Serif 4 Medium" pitchFamily="34" charset="0"/>
                <a:ea typeface="Source Serif 4 Medium" pitchFamily="34" charset="-122"/>
                <a:cs typeface="Source Serif 4 Medium" pitchFamily="34" charset="-120"/>
              </a:rPr>
              <a:t> </a:t>
            </a: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Source Serif 4 Black" pitchFamily="34" charset="0"/>
                <a:ea typeface="Source Serif 4 Black" pitchFamily="34" charset="-122"/>
                <a:cs typeface="Source Serif 4 Black" pitchFamily="34" charset="-120"/>
              </a:rPr>
              <a:t>Key questions:</a:t>
            </a:r>
            <a:endParaRPr lang="en-US" sz="1800" dirty="0"/>
          </a:p>
          <a:p>
            <a:pPr marL="342900" indent="-342900" algn="l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Source Serif 4 Medium" pitchFamily="34" charset="0"/>
                <a:ea typeface="Source Serif 4 Medium" pitchFamily="34" charset="-122"/>
                <a:cs typeface="Source Serif 4 Medium" pitchFamily="34" charset="-120"/>
              </a:rPr>
              <a:t>Does the network impose new invariants on the dynamics?</a:t>
            </a:r>
            <a:endParaRPr lang="en-US" sz="1800" dirty="0"/>
          </a:p>
          <a:p>
            <a:pPr marL="342900" indent="-342900" algn="l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Source Serif 4 Medium" pitchFamily="34" charset="0"/>
                <a:ea typeface="Source Serif 4 Medium" pitchFamily="34" charset="-122"/>
                <a:cs typeface="Source Serif 4 Medium" pitchFamily="34" charset="-120"/>
              </a:rPr>
              <a:t>When does structure suppress vs. amplify selection?</a:t>
            </a:r>
            <a:endParaRPr lang="en-US" sz="1800" dirty="0"/>
          </a:p>
          <a:p>
            <a:pPr marL="342900" indent="-342900" algn="l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Source Serif 4 Medium" pitchFamily="34" charset="0"/>
                <a:ea typeface="Source Serif 4 Medium" pitchFamily="34" charset="-122"/>
                <a:cs typeface="Source Serif 4 Medium" pitchFamily="34" charset="-120"/>
              </a:rPr>
              <a:t>How do fixation times scale with graph properties?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53796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685800" y="274320"/>
            <a:ext cx="6492057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B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 2 · models of competition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685800" y="868680"/>
            <a:ext cx="10820095" cy="5943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3000" dirty="0">
                <a:solidFill>
                  <a:srgbClr val="1A1A1A"/>
                </a:solidFill>
                <a:latin typeface="Source Serif 4 Medium" pitchFamily="34" charset="0"/>
                <a:ea typeface="Source Serif 4 Medium" pitchFamily="34" charset="-122"/>
                <a:cs typeface="Source Serif 4 Medium" pitchFamily="34" charset="-120"/>
              </a:rPr>
              <a:t>A canonical example</a:t>
            </a:r>
            <a:endParaRPr lang="en-US" sz="30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685800" y="1709928"/>
            <a:ext cx="8115071" cy="4507992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700" dirty="0">
                <a:solidFill>
                  <a:srgbClr val="1A1A1A"/>
                </a:solidFill>
                <a:latin typeface="Source Serif 4 Medium" pitchFamily="34" charset="0"/>
                <a:ea typeface="Source Serif 4 Medium" pitchFamily="34" charset="-122"/>
                <a:cs typeface="Source Serif 4 Medium" pitchFamily="34" charset="-120"/>
              </a:rPr>
              <a:t>Consider a star graph with N peripheral vertices and one hub. Under death–birth updating with weak selection, the fixation probability of a single mutant placed at the hub is approximately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1A1A1A"/>
                </a:solidFill>
                <a:latin typeface="Source Serif 4 Medium" pitchFamily="34" charset="0"/>
                <a:ea typeface="Source Serif 4 Medium" pitchFamily="34" charset="-122"/>
                <a:cs typeface="Source Serif 4 Medium" pitchFamily="34" charset="-120"/>
              </a:rPr>
              <a:t> </a:t>
            </a:r>
            <a:endParaRPr lang="en-US" sz="1700" dirty="0"/>
          </a:p>
          <a:p>
            <a:pPr marL="0" indent="0" algn="l">
              <a:buNone/>
            </a:pPr>
            <a:r>
              <a:rPr lang="en-US" sz="1700" i="1" dirty="0">
                <a:solidFill>
                  <a:srgbClr val="1A1A1A"/>
                </a:solidFill>
                <a:latin typeface="STIX Two Math" pitchFamily="34" charset="0"/>
                <a:ea typeface="STIX Two Math" pitchFamily="34" charset="-122"/>
                <a:cs typeface="STIX Two Math" pitchFamily="34" charset="-120"/>
              </a:rPr>
              <a:t>ρ ≈ (1 + δ·(N − 1)/(N + 1)) / N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1A1A1A"/>
                </a:solidFill>
                <a:latin typeface="Source Serif 4 Medium" pitchFamily="34" charset="0"/>
                <a:ea typeface="Source Serif 4 Medium" pitchFamily="34" charset="-122"/>
                <a:cs typeface="Source Serif 4 Medium" pitchFamily="34" charset="-120"/>
              </a:rPr>
              <a:t> 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1A1A1A"/>
                </a:solidFill>
                <a:latin typeface="Source Serif 4 Medium" pitchFamily="34" charset="0"/>
                <a:ea typeface="Source Serif 4 Medium" pitchFamily="34" charset="-122"/>
                <a:cs typeface="Source Serif 4 Medium" pitchFamily="34" charset="-120"/>
              </a:rPr>
              <a:t>where δ is the selection coefficient. This is strictly larger than the neutral expectation 1/N — the hub amplifies selection.</a:t>
            </a:r>
            <a:endParaRPr lang="en-US" sz="1700" dirty="0"/>
          </a:p>
        </p:txBody>
      </p:sp>
      <p:sp>
        <p:nvSpPr>
          <p:cNvPr id="5" name="Text 1"/>
          <p:cNvSpPr>
            <a:spLocks noGrp="1"/>
          </p:cNvSpPr>
          <p:nvPr>
            <p:ph type="body" idx="104" hasCustomPrompt="1"/>
          </p:nvPr>
        </p:nvSpPr>
        <p:spPr>
          <a:xfrm>
            <a:off x="9341876" y="1709928"/>
            <a:ext cx="2164019" cy="450799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100" b="1" i="1" dirty="0">
                <a:solidFill>
                  <a:srgbClr val="6B6B6B"/>
                </a:solidFill>
                <a:latin typeface="Source Serif 4 Black" pitchFamily="34" charset="0"/>
                <a:ea typeface="Source Serif 4 Black" pitchFamily="34" charset="-122"/>
                <a:cs typeface="Source Serif 4 Black" pitchFamily="34" charset="-120"/>
              </a:rPr>
              <a:t>Sidenote.</a:t>
            </a:r>
            <a:endParaRPr lang="en-US" sz="1100" dirty="0"/>
          </a:p>
          <a:p>
            <a:pPr marL="0" indent="0" algn="l">
              <a:buNone/>
            </a:pPr>
            <a:r>
              <a:rPr lang="en-US" sz="1100" i="1" dirty="0">
                <a:solidFill>
                  <a:srgbClr val="6B6B6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Lieberman, Hauert &amp; Nowak (2005) introduced this framework for evolutionary graph theory; the result here recovers their amplifier characterisation for the star.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53796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685800" y="274320"/>
            <a:ext cx="6492057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B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 2 · models of competition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685800" y="868680"/>
            <a:ext cx="10820095" cy="5943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3000" dirty="0">
                <a:solidFill>
                  <a:srgbClr val="1A1A1A"/>
                </a:solidFill>
                <a:latin typeface="Source Serif 4 Medium" pitchFamily="34" charset="0"/>
                <a:ea typeface="Source Serif 4 Medium" pitchFamily="34" charset="-122"/>
                <a:cs typeface="Source Serif 4 Medium" pitchFamily="34" charset="-120"/>
              </a:rPr>
              <a:t>A result</a:t>
            </a:r>
            <a:endParaRPr lang="en-US" sz="3000" dirty="0"/>
          </a:p>
        </p:txBody>
      </p:sp>
      <p:sp>
        <p:nvSpPr>
          <p:cNvPr id="4" name="Text 2"/>
          <p:cNvSpPr>
            <a:spLocks noGrp="1"/>
          </p:cNvSpPr>
          <p:nvPr>
            <p:ph type="body" idx="104" hasCustomPrompt="1"/>
          </p:nvPr>
        </p:nvSpPr>
        <p:spPr>
          <a:xfrm>
            <a:off x="1097280" y="1984248"/>
            <a:ext cx="10225735" cy="34747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100" dirty="0">
                <a:solidFill>
                  <a:srgbClr val="D55E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Theorem (graph-amplifier).</a:t>
            </a:r>
            <a:endParaRPr lang="en-US" sz="1100" dirty="0"/>
          </a:p>
        </p:txBody>
      </p:sp>
      <p:sp>
        <p:nvSpPr>
          <p:cNvPr id="5" name="Text 2"/>
          <p:cNvSpPr>
            <a:spLocks noGrp="1"/>
          </p:cNvSpPr>
          <p:nvPr>
            <p:ph type="body" idx="105" hasCustomPrompt="1"/>
          </p:nvPr>
        </p:nvSpPr>
        <p:spPr>
          <a:xfrm>
            <a:off x="1097280" y="2368296"/>
            <a:ext cx="10225735" cy="22860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Let G be a connected graph with N ≥ 3 vertices, and let π denote the stationary distribution of the simple random walk on G. Under death–birth updating with weak selection, G is a selection amplifier if and only if the variance of π is strictly positive — equivalently, if and only if G is non-regular.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53796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85800" y="274320"/>
            <a:ext cx="6492057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B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 2 · models of competition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85800" y="2194560"/>
            <a:ext cx="10820095" cy="12801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ctr">
              <a:buNone/>
            </a:pPr>
            <a:r>
              <a:rPr lang="en-US" sz="4400" i="1" dirty="0">
                <a:solidFill>
                  <a:srgbClr val="1A1A1A"/>
                </a:solidFill>
                <a:latin typeface="STIX Two Math" pitchFamily="34" charset="0"/>
                <a:ea typeface="STIX Two Math" pitchFamily="34" charset="-122"/>
                <a:cs typeface="STIX Two Math" pitchFamily="34" charset="-120"/>
              </a:rPr>
              <a:t>ẋᵢ = xᵢ ( fᵢ(x) − φ(x) )</a:t>
            </a:r>
            <a:endParaRPr lang="en-US" sz="44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2057400" y="3749040"/>
            <a:ext cx="807689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6B6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replicator equation — strategy frequencies evolve under selection toward higher-than-average fitness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53796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685800" y="274320"/>
            <a:ext cx="6492057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B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 2 · models of competition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685800" y="868680"/>
            <a:ext cx="10820095" cy="5943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3000" dirty="0">
                <a:solidFill>
                  <a:srgbClr val="1A1A1A"/>
                </a:solidFill>
                <a:latin typeface="Source Serif 4 Medium" pitchFamily="34" charset="0"/>
                <a:ea typeface="Source Serif 4 Medium" pitchFamily="34" charset="-122"/>
                <a:cs typeface="Source Serif 4 Medium" pitchFamily="34" charset="-120"/>
              </a:rPr>
              <a:t>Model vs. data</a:t>
            </a:r>
            <a:endParaRPr lang="en-US" sz="30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685800" y="1709928"/>
            <a:ext cx="5181448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kern="0" spc="200" dirty="0">
                <a:solidFill>
                  <a:srgbClr val="D55E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</a:t>
            </a:r>
            <a:endParaRPr lang="en-US" sz="1000" dirty="0"/>
          </a:p>
        </p:txBody>
      </p:sp>
      <p:sp>
        <p:nvSpPr>
          <p:cNvPr id="5" name="Text 1"/>
          <p:cNvSpPr>
            <a:spLocks noGrp="1"/>
          </p:cNvSpPr>
          <p:nvPr>
            <p:ph type="body" idx="104" hasCustomPrompt="1"/>
          </p:nvPr>
        </p:nvSpPr>
        <p:spPr>
          <a:xfrm>
            <a:off x="685800" y="2057400"/>
            <a:ext cx="5181448" cy="4160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500" dirty="0">
                <a:solidFill>
                  <a:srgbClr val="1A1A1A"/>
                </a:solidFill>
                <a:latin typeface="Source Serif 4 Medium" pitchFamily="34" charset="0"/>
                <a:ea typeface="Source Serif 4 Medium" pitchFamily="34" charset="-122"/>
                <a:cs typeface="Source Serif 4 Medium" pitchFamily="34" charset="-120"/>
              </a:rPr>
              <a:t>Predicts fixation probability that scales as ρ(N) ~ 1/N for regular graphs, strictly enhanced for star-like topologies. Selection signal grows with degree heterogeneity.</a:t>
            </a:r>
            <a:endParaRPr lang="en-US" sz="1500" dirty="0"/>
          </a:p>
        </p:txBody>
      </p:sp>
      <p:sp>
        <p:nvSpPr>
          <p:cNvPr id="6" name="Text 1"/>
          <p:cNvSpPr>
            <a:spLocks noGrp="1"/>
          </p:cNvSpPr>
          <p:nvPr>
            <p:ph type="body" idx="105" hasCustomPrompt="1"/>
          </p:nvPr>
        </p:nvSpPr>
        <p:spPr>
          <a:xfrm>
            <a:off x="6324448" y="1709928"/>
            <a:ext cx="5181448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kern="0" spc="200" dirty="0">
                <a:solidFill>
                  <a:srgbClr val="009E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data</a:t>
            </a:r>
            <a:endParaRPr lang="en-US" sz="1000" dirty="0"/>
          </a:p>
        </p:txBody>
      </p:sp>
      <p:sp>
        <p:nvSpPr>
          <p:cNvPr id="7" name="Text 1"/>
          <p:cNvSpPr>
            <a:spLocks noGrp="1"/>
          </p:cNvSpPr>
          <p:nvPr>
            <p:ph type="body" idx="106" hasCustomPrompt="1"/>
          </p:nvPr>
        </p:nvSpPr>
        <p:spPr>
          <a:xfrm>
            <a:off x="6324448" y="2057400"/>
            <a:ext cx="5181448" cy="4160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500" dirty="0">
                <a:solidFill>
                  <a:srgbClr val="1A1A1A"/>
                </a:solidFill>
                <a:latin typeface="Source Serif 4 Medium" pitchFamily="34" charset="0"/>
                <a:ea typeface="Source Serif 4 Medium" pitchFamily="34" charset="-122"/>
                <a:cs typeface="Source Serif 4 Medium" pitchFamily="34" charset="-120"/>
              </a:rPr>
              <a:t>Across 47 microbial communities (n = 12k cells/community), observed fixation rates align with the amplifier prediction within 8% for non-regular contact structures.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53796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413</Words>
  <Application>Microsoft Macintosh PowerPoint</Application>
  <PresentationFormat>Widescreen</PresentationFormat>
  <Paragraphs>50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IBM Plex Mono</vt:lpstr>
      <vt:lpstr>Source Serif 4</vt:lpstr>
      <vt:lpstr>Source Serif 4 Black</vt:lpstr>
      <vt:lpstr>Source Serif 4 Medium</vt:lpstr>
      <vt:lpstr>STIX Two Math</vt:lpstr>
      <vt:lpstr>Office Theme</vt:lpstr>
      <vt:lpstr>On the dynamics of selection in structured populations</vt:lpstr>
      <vt:lpstr>Models of competition</vt:lpstr>
      <vt:lpstr>Replicator dynamics on networks</vt:lpstr>
      <vt:lpstr>A canonical example</vt:lpstr>
      <vt:lpstr>A result</vt:lpstr>
      <vt:lpstr>PowerPoint Presentation</vt:lpstr>
      <vt:lpstr>Model vs. data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Academic theme — paper-serif, Okabe-Ito vermillion</dc:title>
  <dc:subject>PptxGenJS Presentation</dc:subject>
  <dc:creator>Steve Haigh</dc:creator>
  <cp:lastModifiedBy>Steve Haigh</cp:lastModifiedBy>
  <cp:revision>2</cp:revision>
  <dcterms:created xsi:type="dcterms:W3CDTF">2026-05-11T14:50:23Z</dcterms:created>
  <dcterms:modified xsi:type="dcterms:W3CDTF">2026-05-25T14:16:38Z</dcterms:modified>
</cp:coreProperties>
</file>