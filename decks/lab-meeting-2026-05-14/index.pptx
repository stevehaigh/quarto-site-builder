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notesMaster" Target="notesMasters/notesMaster1.xml" /><Relationship Id="rId16" Type="http://schemas.openxmlformats.org/officeDocument/2006/relationships/viewProps" Target="viewProps.xml" /><Relationship Id="rId1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8" Type="http://schemas.openxmlformats.org/officeDocument/2006/relationships/tableStyles" Target="tableStyles.xml" /><Relationship Id="rId17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not COPASI or V-Cell? — great single-pathway ODE tools, but no copy-number accounting across compartments.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Cheat sheet:</a:t>
            </a:r>
          </a:p>
          <a:p>
            <a:pPr lvl="0" indent="0" marL="0">
              <a:buNone/>
            </a:pPr>
          </a:p>
          <a:p>
            <a:pPr lvl="0"/>
            <a:r>
              <a:rPr b="1"/>
              <a:t>COPASI</a:t>
            </a:r>
            <a:r>
              <a:rPr/>
              <a:t> — open-source biochemical pathway simulator; great for single-pathway ODE work.</a:t>
            </a:r>
          </a:p>
          <a:p>
            <a:pPr lvl="0" indent="0" marL="0">
              <a:buNone/>
            </a:pPr>
          </a:p>
          <a:p>
            <a:pPr lvl="0"/>
            <a:r>
              <a:rPr b="1"/>
              <a:t>V-Cell</a:t>
            </a:r>
            <a:r>
              <a:rPr/>
              <a:t> — UConn cell modelling platform; spatial PDE-capable, domain-specific.</a:t>
            </a:r>
          </a:p>
          <a:p>
            <a:pPr lvl="0" indent="0" marL="0">
              <a:buNone/>
            </a:pPr>
          </a:p>
          <a:p>
            <a:pPr lvl="0"/>
            <a:r>
              <a:rPr b="1"/>
              <a:t>SBML</a:t>
            </a:r>
            <a:r>
              <a:rPr/>
              <a:t> — Systems Biology Markup Language; XML interchange format.</a:t>
            </a:r>
          </a:p>
          <a:p>
            <a:pPr lvl="0" indent="0" marL="0">
              <a:buNone/>
            </a:pPr>
          </a:p>
          <a:p>
            <a:pPr lvl="0"/>
            <a:r>
              <a:rPr b="1"/>
              <a:t>BioModels</a:t>
            </a:r>
            <a:r>
              <a:rPr/>
              <a:t> — EBI repository of curated SBML models.</a:t>
            </a:r>
          </a:p>
          <a:p>
            <a:pPr lvl="0" indent="0" marL="0">
              <a:buNone/>
            </a:pPr>
          </a:p>
          <a:p>
            <a:pPr lvl="0"/>
            <a:r>
              <a:rPr b="1"/>
              <a:t>wcEcoli</a:t>
            </a:r>
            <a:r>
              <a:rPr/>
              <a:t> — Covert Lab’s whole-cell </a:t>
            </a:r>
            <a:r>
              <a:rPr i="1"/>
              <a:t>E. coli</a:t>
            </a:r>
            <a:r>
              <a:rPr/>
              <a:t> model (Karr 2012 lineage; Macklin / Sun </a:t>
            </a:r>
            <a:r>
              <a:rPr i="1"/>
              <a:t>Science</a:t>
            </a:r>
            <a:r>
              <a:rPr/>
              <a:t> 2020).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 numerical value carries a primary-source citation comment in the code. This is the discipline that catches transcription errors (segues into slide 8).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Step 5 is the key one. There are ~85 rate constants in this model; each is a small research project.</a:t>
            </a:r>
          </a:p>
          <a:p>
            <a:pPr lvl="0" indent="0" marL="0">
              <a:buNone/>
            </a:pPr>
          </a:p>
          <a:p>
            <a:pPr lvl="0"/>
            <a:r>
              <a:rPr b="1"/>
              <a:t>Calibrated model</a:t>
            </a:r>
            <a:r>
              <a:rPr/>
              <a:t> — a model whose parameters are constrained by measurements rather than fitted to the validation experiment.</a:t>
            </a:r>
          </a:p>
          <a:p>
            <a:pPr lvl="0" indent="0" marL="0">
              <a:buNone/>
            </a:pPr>
          </a:p>
          <a:p>
            <a:pPr lvl="0"/>
            <a:r>
              <a:rPr b="1"/>
              <a:t>Anchor paper</a:t>
            </a:r>
            <a:r>
              <a:rPr/>
              <a:t> — the single paper whose experiment you’ll validate against; defines targets upfront.</a:t>
            </a:r>
          </a:p>
          <a:p>
            <a:pPr lvl="0" indent="0" marL="0">
              <a:buNone/>
            </a:pPr>
          </a:p>
          <a:p>
            <a:pPr lvl="0"/>
            <a:r>
              <a:rPr b="1"/>
              <a:t>IP₃R</a:t>
            </a:r>
            <a:r>
              <a:rPr/>
              <a:t> — inositol-1,4,5-trisphosphate receptor; Ca²⁺ release channel on the DTS.</a:t>
            </a:r>
          </a:p>
          <a:p>
            <a:pPr lvl="0" indent="0" marL="0">
              <a:buNone/>
            </a:pPr>
          </a:p>
          <a:p>
            <a:pPr lvl="0"/>
            <a:r>
              <a:rPr b="1"/>
              <a:t>SERCA</a:t>
            </a:r>
            <a:r>
              <a:rPr/>
              <a:t> — sarco/endoplasmic-reticulum Ca²⁺ ATPase; pumps Ca²⁺ back into the DTS.</a:t>
            </a:r>
          </a:p>
          <a:p>
            <a:pPr lvl="0" indent="0" marL="0">
              <a:buNone/>
            </a:pPr>
          </a:p>
          <a:p>
            <a:pPr lvl="0"/>
            <a:r>
              <a:rPr b="1"/>
              <a:t>PMCA</a:t>
            </a:r>
            <a:r>
              <a:rPr/>
              <a:t> — plasma-membrane Ca²⁺ ATPase; pumps Ca²⁺ out of the cell.</a:t>
            </a:r>
          </a:p>
          <a:p>
            <a:pPr lvl="0" indent="0" marL="0">
              <a:buNone/>
            </a:pPr>
          </a:p>
          <a:p>
            <a:pPr lvl="0"/>
            <a:r>
              <a:rPr b="1"/>
              <a:t>SOCE</a:t>
            </a:r>
            <a:r>
              <a:rPr/>
              <a:t> — store-operated Ca²⁺ entry; STIM1 / Orai1 mechanism that refills depleted stores from extracellular Ca²⁺.</a:t>
            </a:r>
          </a:p>
          <a:p>
            <a:pPr lvl="0" indent="0" marL="0">
              <a:buNone/>
            </a:pPr>
          </a:p>
          <a:p>
            <a:pPr lvl="0"/>
            <a:r>
              <a:rPr b="1"/>
              <a:t>DTS</a:t>
            </a:r>
            <a:r>
              <a:rPr/>
              <a:t> — dense tubular system; platelet equivalent of ER, the intracellular Ca²⁺ store.</a:t>
            </a:r>
          </a:p>
          <a:p>
            <a:pPr lvl="0" indent="0" marL="0">
              <a:buNone/>
            </a:pPr>
          </a:p>
          <a:p>
            <a:pPr lvl="0"/>
            <a:r>
              <a:rPr b="1"/>
              <a:t>Burkhart 2012</a:t>
            </a:r>
            <a:r>
              <a:rPr/>
              <a:t> — platelet proteomics dataset; absolute copy numbers for ~3,800 platelet proteins.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Division of labour: AI does the rote PDF extraction; humans do the sanity check.</a:t>
            </a:r>
          </a:p>
          <a:p>
            <a:pPr lvl="0" indent="0" marL="0">
              <a:buNone/>
            </a:pPr>
          </a:p>
          <a:p>
            <a:pPr lvl="0"/>
            <a:r>
              <a:rPr/>
              <a:t>Headline claim: 100s of papers a day is reachable; the bottleneck is verification — and verification is also AI-amenable (see slide 8).</a:t>
            </a:r>
          </a:p>
          <a:p>
            <a:pPr lvl="0" indent="0" marL="0">
              <a:buNone/>
            </a:pPr>
          </a:p>
          <a:p>
            <a:pPr lvl="0"/>
            <a:r>
              <a:rPr/>
              <a:t>Authorship of the model — primary source / </a:t>
            </a:r>
            <a:r>
              <a:rPr i="1"/>
              <a:t>wcEcoli</a:t>
            </a:r>
            <a:r>
              <a:rPr/>
              <a:t> / me, in that order.</a:t>
            </a:r>
          </a:p>
          <a:p>
            <a:pPr lvl="0" indent="0" marL="0">
              <a:buNone/>
            </a:pPr>
          </a:p>
          <a:p>
            <a:pPr lvl="0"/>
            <a:r>
              <a:rPr b="1"/>
              <a:t>PDF extraction</a:t>
            </a:r>
            <a:r>
              <a:rPr/>
              <a:t> — historically painful for tables and footnotes; modern multimodal LLMs are now reliable on well-formatted tables, less so on figures.</a:t>
            </a:r>
          </a:p>
          <a:p>
            <a:pPr lvl="0" indent="0" marL="0">
              <a:buNone/>
            </a:pPr>
          </a:p>
          <a:p>
            <a:pPr lvl="0"/>
            <a:r>
              <a:rPr b="1"/>
              <a:t>Sanity check</a:t>
            </a:r>
            <a:r>
              <a:rPr/>
              <a:t> — the human step: does the extracted value match the paper’s text? Do the units make sense?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“Building the code” means: scaffolding new process modules off the </a:t>
            </a:r>
            <a:r>
              <a:rPr i="1"/>
              <a:t>wcEcoli</a:t>
            </a:r>
            <a:r>
              <a:rPr/>
              <a:t> template, wiring rate constants into the existing solver, writing unit tests for invariants.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Works well, not perfect — will need refactoring before v.next.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“Did the AI write code that worked first try?” → no, the back-and-forth is iterative; the AI is a fast scaffolder and a useful pair-programmer, not an oracle.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b="1"/>
              <a:t>Agonist</a:t>
            </a:r>
            <a:r>
              <a:rPr/>
              <a:t> — a signal molecule that activates a platelet (thrombin, ADP, TXA2).</a:t>
            </a:r>
          </a:p>
          <a:p>
            <a:pPr lvl="0" indent="0" marL="0">
              <a:buNone/>
            </a:pPr>
          </a:p>
          <a:p>
            <a:pPr lvl="0"/>
            <a:r>
              <a:rPr b="1"/>
              <a:t>GPCR</a:t>
            </a:r>
            <a:r>
              <a:rPr/>
              <a:t> — G-protein-coupled receptor (PAR1 / PAR4 for thrombin; P2Y1 and P2Y12 for ADP).</a:t>
            </a:r>
          </a:p>
          <a:p>
            <a:pPr lvl="0" indent="0" marL="0">
              <a:buNone/>
            </a:pPr>
          </a:p>
          <a:p>
            <a:pPr lvl="0"/>
            <a:r>
              <a:rPr b="1"/>
              <a:t>Gαq</a:t>
            </a:r>
            <a:r>
              <a:rPr/>
              <a:t> — α-subunit of the heterotrimeric G-protein that activates PLCβ. Gᵢ (P2Y12) is the inhibitory counterpart.</a:t>
            </a:r>
          </a:p>
          <a:p>
            <a:pPr lvl="0" indent="0" marL="0">
              <a:buNone/>
            </a:pPr>
          </a:p>
          <a:p>
            <a:pPr lvl="0"/>
            <a:r>
              <a:rPr b="1"/>
              <a:t>PLCβ</a:t>
            </a:r>
            <a:r>
              <a:rPr/>
              <a:t> — phospholipase Cβ; cleaves PIP₂ → IP₃ + DAG.</a:t>
            </a:r>
          </a:p>
          <a:p>
            <a:pPr lvl="0" indent="0" marL="0">
              <a:buNone/>
            </a:pPr>
          </a:p>
          <a:p>
            <a:pPr lvl="0"/>
            <a:r>
              <a:rPr b="1"/>
              <a:t>IP₃</a:t>
            </a:r>
            <a:r>
              <a:rPr/>
              <a:t> — inositol-1,4,5-trisphosphate; the second messenger that gates IP₃R.</a:t>
            </a:r>
          </a:p>
          <a:p>
            <a:pPr lvl="0" indent="0" marL="0">
              <a:buNone/>
            </a:pPr>
          </a:p>
          <a:p>
            <a:pPr lvl="0"/>
            <a:r>
              <a:rPr b="1"/>
              <a:t>NCX / NCLX / MCU</a:t>
            </a:r>
            <a:r>
              <a:rPr/>
              <a:t> — Na⁺/Ca²⁺ exchanger (PM); Na⁺/Ca²⁺/Li⁺ exchanger (mitochondrial); mitochondrial Ca²⁺ uniporter.</a:t>
            </a:r>
          </a:p>
          <a:p>
            <a:pPr lvl="0" indent="0" marL="0">
              <a:buNone/>
            </a:pPr>
          </a:p>
          <a:p>
            <a:pPr lvl="0"/>
            <a:r>
              <a:rPr b="1"/>
              <a:t>CaM</a:t>
            </a:r>
            <a:r>
              <a:rPr/>
              <a:t> — calmodulin; cytosolic Ca²⁺ sensor / buffer; activates PMCA at high Ca²⁺.</a:t>
            </a:r>
          </a:p>
          <a:p>
            <a:pPr lvl="0" indent="0" marL="0">
              <a:buNone/>
            </a:pPr>
          </a:p>
          <a:p>
            <a:pPr lvl="0"/>
            <a:r>
              <a:rPr b="1"/>
              <a:t>CALR / BiP / HSP90B1 / CREC</a:t>
            </a:r>
            <a:r>
              <a:rPr/>
              <a:t> — major intra-DTS Ca²⁺-binding buffers.</a:t>
            </a:r>
          </a:p>
          <a:p>
            <a:pPr lvl="0" indent="0" marL="0">
              <a:buNone/>
            </a:pPr>
          </a:p>
          <a:p>
            <a:pPr lvl="0"/>
            <a:r>
              <a:rPr b="1"/>
              <a:t>STIM1 / Orai1</a:t>
            </a:r>
            <a:r>
              <a:rPr/>
              <a:t> — DTS Ca²⁺ sensor + PM channel; the SOCE machinery.</a:t>
            </a:r>
          </a:p>
          <a:p>
            <a:pPr lvl="0" indent="0" marL="0">
              <a:buNone/>
            </a:pPr>
          </a:p>
          <a:p>
            <a:pPr lvl="0"/>
            <a:r>
              <a:rPr b="1"/>
              <a:t>P2X1</a:t>
            </a:r>
            <a:r>
              <a:rPr/>
              <a:t> — ATP-gated PM Ca²⁺ channel; ionotropic, not GPCR.</a:t>
            </a:r>
          </a:p>
          <a:p>
            <a:pPr lvl="0" indent="0" marL="0">
              <a:buNone/>
            </a:pPr>
          </a:p>
          <a:p>
            <a:pPr lvl="0"/>
            <a:r>
              <a:rPr b="1"/>
              <a:t>SCS / OCS</a:t>
            </a:r>
            <a:r>
              <a:rPr/>
              <a:t> — surface-connected (open canalicular) system; the platelet’s invaginated extracellular surface.</a:t>
            </a:r>
          </a:p>
          <a:p>
            <a:pPr lvl="0" indent="0" marL="0">
              <a:buNone/>
            </a:pPr>
          </a:p>
          <a:p>
            <a:pPr lvl="0"/>
            <a:r>
              <a:rPr b="1"/>
              <a:t>TXA2R</a:t>
            </a:r>
            <a:r>
              <a:rPr/>
              <a:t> — thromboxane A2 receptor; not yet in model.</a:t>
            </a:r>
          </a:p>
          <a:p>
            <a:pPr lvl="0" indent="0" marL="0">
              <a:buNone/>
            </a:pPr>
          </a:p>
          <a:p>
            <a:pPr lvl="0"/>
            <a:r>
              <a:rPr b="1"/>
              <a:t>PKC</a:t>
            </a:r>
            <a:r>
              <a:rPr/>
              <a:t> — protein kinase C; not yet in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Resting-state targets</a:t>
            </a:r>
            <a:r>
              <a:rPr/>
              <a:t> — cytosolic Ca²⁺ in 90–110 nM; DTS Ca²⁺ in literature range (100–400 µM); IP₃ ≈ 50 nM.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IP₃-stimulated transient</a:t>
            </a:r>
            <a:r>
              <a:rPr/>
              <a:t> — the calcium spike following IP₃ release from the GPCR cascade.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Gαq-active</a:t>
            </a:r>
            <a:r>
              <a:rPr/>
              <a:t> — fraction of Gαq protein in its GTP-bound, active conformation; an upstream proxy for receptor occupancy.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Unit test</a:t>
            </a:r>
            <a:r>
              <a:rPr/>
              <a:t> — automated invariant check (e.g. mass balance, positivity, sub-state sum).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4.xml" /><Relationship Id="rId3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Relationship Id="rId3" Type="http://schemas.openxmlformats.org/officeDocument/2006/relationships/image" Target="../media/image4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feasibility of a whole-cell model of the human platelet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Steve Haigh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21 May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Quick recap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 evaluated</a:t>
            </a:r>
          </a:p>
          <a:p>
            <a:pPr lvl="0"/>
            <a:r>
              <a:rPr/>
              <a:t>Aiming to build a computer model of the platelet.</a:t>
            </a:r>
          </a:p>
          <a:p>
            <a:pPr lvl="0"/>
            <a:r>
              <a:rPr/>
              <a:t>Has been done before in prokaryotes and yeast but not in other eukaryotic cells.</a:t>
            </a:r>
          </a:p>
          <a:p>
            <a:pPr lvl="0"/>
            <a:r>
              <a:rPr/>
              <a:t>Lots of modelling done in platelets but not a whole-cell attempt.</a:t>
            </a:r>
          </a:p>
          <a:p>
            <a:pPr lvl="0"/>
            <a:r>
              <a:rPr/>
              <a:t>Lots of options e.g., COPASI, V-Cell and others.</a:t>
            </a:r>
          </a:p>
          <a:p>
            <a:pPr lvl="0"/>
            <a:r>
              <a:rPr/>
              <a:t>Landed on wcEcoli project from Covert lab — capable of scaling to whole cell, code quality excellent, something I could work with and expand.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 did</a:t>
            </a:r>
          </a:p>
          <a:p>
            <a:pPr lvl="0"/>
            <a:r>
              <a:rPr/>
              <a:t>Forked wcEcoli (i.e., took my own working copy).</a:t>
            </a:r>
          </a:p>
          <a:p>
            <a:pPr lvl="0"/>
            <a:r>
              <a:rPr/>
              <a:t>Pruned all </a:t>
            </a:r>
            <a:r>
              <a:rPr i="1"/>
              <a:t>E. coli</a:t>
            </a:r>
            <a:r>
              <a:rPr/>
              <a:t> biology.</a:t>
            </a:r>
          </a:p>
          <a:p>
            <a:pPr lvl="0"/>
            <a:r>
              <a:rPr/>
              <a:t>Used AI to build tests to verify I didn’t remove too much.</a:t>
            </a:r>
          </a:p>
          <a:p>
            <a:pPr lvl="0"/>
            <a:r>
              <a:rPr/>
              <a:t>Rebuilt cell contents and processes from the platelet literature.</a:t>
            </a:r>
          </a:p>
          <a:p>
            <a:pPr lvl="0"/>
            <a:r>
              <a:rPr/>
              <a:t>Kept the simulation engine, state partitioning, listener / analysis framework.</a:t>
            </a:r>
          </a:p>
          <a:p>
            <a:pPr lvl="0"/>
            <a:r>
              <a:rPr/>
              <a:t>~5,000 lines of working code I didn’t have to write.</a:t>
            </a:r>
          </a:p>
          <a:p>
            <a:pPr lvl="0"/>
            <a:r>
              <a:rPr/>
              <a:t>Emailed Prof. Covert — “sounds fun, good luck”.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Method to build a calibrated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each mechanism, a five-step process:</a:t>
            </a:r>
          </a:p>
          <a:p>
            <a:pPr lvl="0" indent="-342900" marL="342900">
              <a:buAutoNum type="arabicPeriod"/>
            </a:pPr>
            <a:r>
              <a:rPr b="1"/>
              <a:t>Anchor paper.</a:t>
            </a:r>
            <a:r>
              <a:rPr/>
              <a:t> E.g., Dolan &amp; Diamond 2014 supplied the validation experiment (Fig. 4 Ca²⁺ transients ± extracellular Ca²⁺) and resting-state targets (100 nM cyt, 250 µM DTS).</a:t>
            </a:r>
          </a:p>
          <a:p>
            <a:pPr lvl="0" indent="-342900" marL="342900">
              <a:buAutoNum type="arabicPeriod"/>
            </a:pPr>
            <a:r>
              <a:rPr b="1"/>
              <a:t>Literature review for kinetics.</a:t>
            </a:r>
            <a:r>
              <a:rPr/>
              <a:t> Primary sources: deYoung–Keizer 1992 for IP₃R, Caride 2007 for PMCA, Hoover &amp; Lewis 2011 for SOCE, Mazet 2020 for the PI cycle…</a:t>
            </a:r>
          </a:p>
          <a:p>
            <a:pPr lvl="0" indent="-342900" marL="342900">
              <a:buAutoNum type="arabicPeriod"/>
            </a:pPr>
            <a:r>
              <a:rPr b="1"/>
              <a:t>Species enumeration.</a:t>
            </a:r>
            <a:r>
              <a:rPr/>
              <a:t> Every Ca²⁺-binding or -gating protein state, with a compartment tag (DTS, Cyt etc.). ~50 species for the calcium pathway.</a:t>
            </a:r>
          </a:p>
          <a:p>
            <a:pPr lvl="0" indent="-342900" marL="342900">
              <a:buAutoNum type="arabicPeriod"/>
            </a:pPr>
            <a:r>
              <a:rPr b="1"/>
              <a:t>Copy numbers</a:t>
            </a:r>
            <a:r>
              <a:rPr/>
              <a:t> from Burkhart 2012 platelet proteomics.</a:t>
            </a:r>
          </a:p>
          <a:p>
            <a:pPr lvl="0" indent="-342900" marL="342900">
              <a:buAutoNum type="arabicPeriod"/>
            </a:pPr>
            <a:r>
              <a:rPr b="1"/>
              <a:t>Rate constants.</a:t>
            </a:r>
            <a:r>
              <a:rPr/>
              <a:t> Primary-source values, units normalised, every value carrying a citation comment in code.</a:t>
            </a:r>
          </a:p>
          <a:p>
            <a:pPr lvl="0" indent="0" marL="0">
              <a:buNone/>
            </a:pPr>
            <a:r>
              <a:rPr/>
              <a:t>Then: does the resting state hold? Do the timescales line up? Do the unit tests still pass?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Build code from source data — start with the data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Start with the published data (usually PDF, sometimes CSV).</a:t>
            </a:r>
          </a:p>
        </p:txBody>
      </p:sp>
      <p:pic>
        <p:nvPicPr>
          <p:cNvPr descr="img/image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257300"/>
            <a:ext cx="5105400" cy="1778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 i="1"/>
              <a:t>Just a small excerpt.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Build code from source data — AI extraction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Ask AI to extract — get it to tell you what it’s doing to sanity check (but it is </a:t>
            </a:r>
            <a:r>
              <a:rPr i="1"/>
              <a:t>very</a:t>
            </a:r>
            <a:r>
              <a:rPr/>
              <a:t> good at this).</a:t>
            </a:r>
          </a:p>
          <a:p>
            <a:pPr lvl="0" indent="0" marL="1270000">
              <a:buNone/>
            </a:pPr>
            <a:r>
              <a:rPr sz="2000"/>
              <a:t>E.g. I asked: “Please read Dolan and Diamond 2014 and tell me what the first 5 lines of table 1 show.”</a:t>
            </a:r>
          </a:p>
          <a:p>
            <a:pPr lvl="0" indent="0" marL="0">
              <a:buNone/>
            </a:pPr>
            <a:r>
              <a:rPr/>
              <a:t>Simply not feasible to do this by hand at large scale; AI could process 100s of papers in a day. The only challenge is verification, but this is also amenable to AI assistance.</a:t>
            </a:r>
          </a:p>
        </p:txBody>
      </p:sp>
      <p:pic>
        <p:nvPicPr>
          <p:cNvPr descr="img/image2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48200" y="2438400"/>
            <a:ext cx="4038600" cy="901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Build code from source data — AI writes the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Then get AI to build the code, using the </a:t>
            </a:r>
            <a:r>
              <a:rPr i="1"/>
              <a:t>wcEcoli</a:t>
            </a:r>
            <a:r>
              <a:rPr/>
              <a:t> code as a template.</a:t>
            </a:r>
          </a:p>
          <a:p>
            <a:pPr lvl="0" indent="0" marL="0">
              <a:buNone/>
            </a:pPr>
            <a:r>
              <a:rPr/>
              <a:t>The code works well, the architecture is not perfect — needs some work to make it more usable for future expansion — but it’s an excellent start.</a:t>
            </a:r>
          </a:p>
        </p:txBody>
      </p:sp>
      <p:pic>
        <p:nvPicPr>
          <p:cNvPr descr="img/image3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48200" y="1816100"/>
            <a:ext cx="4038600" cy="2133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did I build? (so far)</a:t>
            </a:r>
          </a:p>
        </p:txBody>
      </p:sp>
      <p:pic>
        <p:nvPicPr>
          <p:cNvPr descr="img/image4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841500" y="1193800"/>
            <a:ext cx="5473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Spotting errors in the source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The Purvis 2008 k₃ story.</a:t>
            </a:r>
          </a:p>
          <a:p>
            <a:pPr lvl="0"/>
            <a:r>
              <a:rPr/>
              <a:t>Asked AI to check values it had extracted.</a:t>
            </a:r>
          </a:p>
          <a:p>
            <a:pPr lvl="0"/>
            <a:r>
              <a:rPr/>
              <a:t>AI spotted that a value quoted in Purvis &amp; Diamond 2008 (a well-known platelet modelling paper) was wrong — units were wrong and value was 100× too large.</a:t>
            </a:r>
          </a:p>
          <a:p>
            <a:pPr lvl="0"/>
            <a:r>
              <a:rPr/>
              <a:t>AI found the original study via the references and I verified for myself; AI was correct, there was a typo.</a:t>
            </a:r>
          </a:p>
          <a:p>
            <a:pPr lvl="0"/>
            <a:r>
              <a:rPr/>
              <a:t>Very strong use-case for AI — tracking values and assertions across papers. Also very useful for helping to review data: I got the AI to print values it had found, with reference to the primary source and the code, so I could easily review.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Criteria</a:t>
            </a:r>
          </a:p>
          <a:p>
            <a:pPr lvl="0" indent="0" marL="0">
              <a:buNone/>
            </a:pPr>
            <a:r>
              <a:rPr/>
              <a:t>Compared output to existing models. Success criteria:</a:t>
            </a:r>
          </a:p>
          <a:p>
            <a:pPr lvl="0"/>
            <a:r>
              <a:rPr/>
              <a:t>Resting cytosolic Ca²⁺ within 100 ± 10 nM band</a:t>
            </a:r>
          </a:p>
          <a:p>
            <a:pPr lvl="0"/>
            <a:r>
              <a:rPr/>
              <a:t>Resting DTS Ca²⁺ in the literature range</a:t>
            </a:r>
          </a:p>
          <a:p>
            <a:pPr lvl="0"/>
            <a:r>
              <a:rPr/>
              <a:t>IP₃-stimulated transient peak height in band</a:t>
            </a:r>
          </a:p>
          <a:p>
            <a:pPr lvl="0"/>
            <a:r>
              <a:rPr/>
              <a:t>Transient duration matches shape of previous model(s)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Model state at 14 May</a:t>
            </a:r>
          </a:p>
          <a:p>
            <a:pPr lvl="0"/>
            <a:r>
              <a:rPr/>
              <a:t>Resting cyt Ca²⁺: 104 nM ✓</a:t>
            </a:r>
          </a:p>
          <a:p>
            <a:pPr lvl="0"/>
            <a:r>
              <a:rPr/>
              <a:t>Resting DTS Ca²⁺: 235 µM ✓</a:t>
            </a:r>
          </a:p>
          <a:p>
            <a:pPr lvl="0"/>
            <a:r>
              <a:rPr/>
              <a:t>Resting IP₃: 50 nM ✓</a:t>
            </a:r>
          </a:p>
          <a:p>
            <a:pPr lvl="0"/>
            <a:r>
              <a:rPr/>
              <a:t>Resting Gαq-active: 100 of 5000 ✓</a:t>
            </a:r>
          </a:p>
          <a:p>
            <a:pPr lvl="0"/>
            <a:r>
              <a:rPr/>
              <a:t>21 / 21 unit tests pass</a:t>
            </a:r>
          </a:p>
          <a:p>
            <a:pPr lvl="0"/>
            <a:r>
              <a:rPr/>
              <a:t>Driven by physiological agonists — 1 nM thrombin, 10 µM ADP. No hand-fitted IP₃ forcing.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Model stimulated with ADP / thrombin — cytosolic Ca²⁺</a:t>
            </a:r>
          </a:p>
        </p:txBody>
      </p:sp>
      <p:pic>
        <p:nvPicPr>
          <p:cNvPr descr="img/image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58900" y="1193800"/>
            <a:ext cx="6413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Model stimulated with ADP / thrombin — DTS Ca²⁺</a:t>
            </a:r>
          </a:p>
        </p:txBody>
      </p:sp>
      <p:pic>
        <p:nvPicPr>
          <p:cNvPr descr="img/image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51000" y="1193800"/>
            <a:ext cx="5854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Where it goes from 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Near-term biology</a:t>
            </a:r>
          </a:p>
          <a:p>
            <a:pPr lvl="0"/>
            <a:r>
              <a:rPr/>
              <a:t>Granule release — the model currently stops at the Ca²⁺ peak.</a:t>
            </a:r>
          </a:p>
          <a:p>
            <a:pPr lvl="0"/>
            <a:r>
              <a:rPr/>
              <a:t>Implement P2Y₁₂, TXA2R receptors and more, depending on time.</a:t>
            </a:r>
          </a:p>
          <a:p>
            <a:pPr lvl="0"/>
            <a:r>
              <a:rPr/>
              <a:t>Run experiments e.g. when P2Y₁₂ / Gᵢ are wired up, add clopidogrel as an </a:t>
            </a:r>
            <a:r>
              <a:rPr i="1"/>
              <a:t>in silico</a:t>
            </a:r>
            <a:r>
              <a:rPr/>
              <a:t> drug experiment.</a:t>
            </a:r>
          </a:p>
          <a:p>
            <a:pPr lvl="0" indent="0" marL="0">
              <a:buNone/>
            </a:pPr>
            <a:r>
              <a:rPr b="1"/>
              <a:t>Wider impact</a:t>
            </a:r>
          </a:p>
          <a:p>
            <a:pPr lvl="0"/>
            <a:r>
              <a:rPr/>
              <a:t>Platelet–CTC interactions. A calibrated platelet model could in principle be coupled to a tumour-cell model.</a:t>
            </a:r>
          </a:p>
          <a:p>
            <a:pPr lvl="0"/>
            <a:r>
              <a:rPr/>
              <a:t>Methodology generalises to other single-cell calibration problems — if pathways are well-quantified, no reason not to try modelling them in a cancer cell.</a:t>
            </a:r>
          </a:p>
          <a:p>
            <a:pPr lvl="0"/>
            <a:r>
              <a:rPr/>
              <a:t>Multiple cell–cell interactions — thrombus formation?</a:t>
            </a:r>
          </a:p>
          <a:p>
            <a:pPr lvl="0" indent="0" marL="0">
              <a:buNone/>
            </a:pPr>
            <a:r>
              <a:rPr b="1"/>
              <a:t>Blue sky goal</a:t>
            </a:r>
          </a:p>
          <a:p>
            <a:pPr lvl="0"/>
            <a:r>
              <a:rPr/>
              <a:t>I’d like to get to a point where a biologist with limited coding experience could build a model with AI help. Very long shot: a system where a user drops primary data and text instructions into an app and the model builds itself.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feasibility of a whole-cell model of the human platelet</dc:title>
  <dc:creator>Steve Haigh</dc:creator>
  <cp:keywords/>
  <dcterms:created xsi:type="dcterms:W3CDTF">2026-09-18T12:51:42Z</dcterms:created>
  <dcterms:modified xsi:type="dcterms:W3CDTF">2026-09-18T12:51:42Z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21 May 2026</vt:lpwstr>
  </property>
  <property fmtid="{D5CDD505-2E9C-101B-9397-08002B2CF9AE}" pid="6" name="date-format">
    <vt:lpwstr>D MMM YYYY</vt:lpwstr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toc-title">
    <vt:lpwstr>Table of contents</vt:lpwstr>
  </property>
</Properties>
</file>